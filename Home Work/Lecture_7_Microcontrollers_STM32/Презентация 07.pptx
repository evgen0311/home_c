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media/image57.png" ContentType="image/png"/>
  <Override PartName="/ppt/media/image1.png" ContentType="image/png"/>
  <Override PartName="/ppt/media/image58.png" ContentType="image/png"/>
  <Override PartName="/ppt/media/image2.png" ContentType="image/png"/>
  <Override PartName="/ppt/media/image59.png" ContentType="image/png"/>
  <Override PartName="/ppt/media/image3.png" ContentType="image/png"/>
  <Override PartName="/ppt/media/image4.png" ContentType="image/png"/>
  <Override PartName="/ppt/media/image70.png" ContentType="image/png"/>
  <Override PartName="/ppt/media/image71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54.png" ContentType="image/png"/>
  <Override PartName="/ppt/media/image55.png" ContentType="image/png"/>
  <Override PartName="/ppt/media/image56.png" ContentType="image/png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65.png" ContentType="image/png"/>
  <Override PartName="/ppt/media/image66.png" ContentType="image/png"/>
  <Override PartName="/ppt/media/image67.png" ContentType="image/png"/>
  <Override PartName="/ppt/media/image68.png" ContentType="image/png"/>
  <Override PartName="/ppt/media/image69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Click to move the slide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Click to edit the notes format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&lt;header&gt;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&lt;date/time&gt;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&lt;footer&gt;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5C61E2B-2327-4210-A5A5-D43AD39A59CF}" type="slidenum">
              <a:rPr b="0" lang="ru-RU" sz="1400" spc="-1" strike="noStrike">
                <a:latin typeface="Times New Roman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E7748BC-93C3-457C-B911-149BEC6BB885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Click to edit the title text format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png"/><Relationship Id="rId3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image" Target="../media/image58.png"/><Relationship Id="rId3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60.png"/><Relationship Id="rId3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70.png"/><Relationship Id="rId2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7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96;p20"/>
          <p:cNvSpPr/>
          <p:nvPr/>
        </p:nvSpPr>
        <p:spPr>
          <a:xfrm>
            <a:off x="225360" y="2024280"/>
            <a:ext cx="7045560" cy="22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2700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5100" spc="-1" strike="noStrike">
                <a:solidFill>
                  <a:srgbClr val="666666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</a:t>
            </a:r>
            <a:endParaRPr b="0" lang="ru-RU" sz="5100" spc="-1" strike="noStrike">
              <a:latin typeface="Arial"/>
            </a:endParaRPr>
          </a:p>
        </p:txBody>
      </p:sp>
      <p:sp>
        <p:nvSpPr>
          <p:cNvPr id="45" name="Google Shape;98;p20"/>
          <p:cNvSpPr/>
          <p:nvPr/>
        </p:nvSpPr>
        <p:spPr>
          <a:xfrm>
            <a:off x="540000" y="5948640"/>
            <a:ext cx="6130080" cy="54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42000"/>
              </a:lnSpc>
              <a:buNone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ExtraLight"/>
                <a:ea typeface="IBM Plex Sans ExtraLight"/>
              </a:rPr>
              <a:t>Микроконтроллеры STM32 / 7 занятие</a:t>
            </a:r>
            <a:endParaRPr b="0" lang="ru-RU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/>
          </p:nvPr>
        </p:nvSpPr>
        <p:spPr>
          <a:xfrm>
            <a:off x="485280" y="539280"/>
            <a:ext cx="11220480" cy="57790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В ЭТОМ УРОКЕ</a:t>
            </a:r>
            <a:endParaRPr b="0" lang="ru-RU" sz="3100" spc="-1" strike="noStrike">
              <a:latin typeface="Arial"/>
            </a:endParaRPr>
          </a:p>
          <a:p>
            <a:pPr marL="144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1080000" indent="-361800">
              <a:lnSpc>
                <a:spcPct val="142000"/>
              </a:lnSpc>
              <a:spcBef>
                <a:spcPts val="1001"/>
              </a:spcBef>
              <a:buClr>
                <a:srgbClr val="cac1ac"/>
              </a:buClr>
              <a:buFont typeface="IBM Plex Sans Thin"/>
              <a:buChar char="➔"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ExtraLight"/>
                <a:ea typeface="IBM Plex Sans ExtraLight"/>
              </a:rPr>
              <a:t>Что такое DMA</a:t>
            </a:r>
            <a:endParaRPr b="0" lang="ru-RU" sz="1900" spc="-1" strike="noStrike">
              <a:latin typeface="Arial"/>
            </a:endParaRPr>
          </a:p>
          <a:p>
            <a:pPr marL="1080000" indent="-361800">
              <a:lnSpc>
                <a:spcPct val="142000"/>
              </a:lnSpc>
              <a:spcBef>
                <a:spcPts val="1001"/>
              </a:spcBef>
              <a:buClr>
                <a:srgbClr val="cac1ac"/>
              </a:buClr>
              <a:buFont typeface="IBM Plex Sans Thin"/>
              <a:buChar char="➔"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ExtraLight"/>
                <a:ea typeface="IBM Plex Sans ExtraLight"/>
              </a:rPr>
              <a:t>Функции обратного вызова</a:t>
            </a:r>
            <a:endParaRPr b="0" lang="ru-RU" sz="1900" spc="-1" strike="noStrike">
              <a:latin typeface="Arial"/>
            </a:endParaRPr>
          </a:p>
          <a:p>
            <a:pPr marL="1080000" indent="-361800">
              <a:lnSpc>
                <a:spcPct val="142000"/>
              </a:lnSpc>
              <a:spcBef>
                <a:spcPts val="1001"/>
              </a:spcBef>
              <a:buClr>
                <a:srgbClr val="cac1ac"/>
              </a:buClr>
              <a:buFont typeface="IBM Plex Sans Thin"/>
              <a:buChar char="➔"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ExtraLight"/>
                <a:ea typeface="IBM Plex Sans ExtraLight"/>
              </a:rPr>
              <a:t>DMA + DAC</a:t>
            </a:r>
            <a:endParaRPr b="0" lang="ru-RU" sz="1900" spc="-1" strike="noStrike">
              <a:latin typeface="Arial"/>
            </a:endParaRPr>
          </a:p>
          <a:p>
            <a:pPr marL="1080000" indent="-361800">
              <a:lnSpc>
                <a:spcPct val="142000"/>
              </a:lnSpc>
              <a:spcBef>
                <a:spcPts val="1001"/>
              </a:spcBef>
              <a:buClr>
                <a:srgbClr val="cac1ac"/>
              </a:buClr>
              <a:buFont typeface="IBM Plex Sans Thin"/>
              <a:buChar char="➔"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ExtraLight"/>
                <a:ea typeface="IBM Plex Sans ExtraLight"/>
              </a:rPr>
              <a:t>DMA + SPI</a:t>
            </a:r>
            <a:endParaRPr b="0" lang="ru-RU" sz="1900" spc="-1" strike="noStrike">
              <a:latin typeface="Arial"/>
            </a:endParaRPr>
          </a:p>
          <a:p>
            <a:pPr marL="1080000" indent="-361800">
              <a:lnSpc>
                <a:spcPct val="142000"/>
              </a:lnSpc>
              <a:spcBef>
                <a:spcPts val="1001"/>
              </a:spcBef>
              <a:buClr>
                <a:srgbClr val="cac1ac"/>
              </a:buClr>
              <a:buFont typeface="IBM Plex Sans Thin"/>
              <a:buChar char="➔"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ExtraLight"/>
                <a:ea typeface="IBM Plex Sans ExtraLight"/>
              </a:rPr>
              <a:t>DMA + TIM</a:t>
            </a:r>
            <a:endParaRPr b="0" lang="ru-RU" sz="1900" spc="-1" strike="noStrike">
              <a:latin typeface="Arial"/>
            </a:endParaRPr>
          </a:p>
          <a:p>
            <a:pPr marL="1080000" indent="-349200">
              <a:lnSpc>
                <a:spcPct val="142000"/>
              </a:lnSpc>
              <a:spcBef>
                <a:spcPts val="1001"/>
              </a:spcBef>
              <a:buClr>
                <a:srgbClr val="cac1ac"/>
              </a:buClr>
              <a:buFont typeface="IBM Plex Sans ExtraLight"/>
              <a:buChar char="➔"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ExtraLight"/>
                <a:ea typeface="IBM Plex Sans ExtraLight"/>
              </a:rPr>
              <a:t>DMA + ADC</a:t>
            </a:r>
            <a:endParaRPr b="0" lang="ru-RU" sz="1900" spc="-1" strike="noStrike"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111;p22"/>
          <p:cNvSpPr/>
          <p:nvPr/>
        </p:nvSpPr>
        <p:spPr>
          <a:xfrm>
            <a:off x="1440" y="524880"/>
            <a:ext cx="8698680" cy="17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63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Как работает DMA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49" name="Google Shape;113;p22" descr=""/>
          <p:cNvPicPr/>
          <p:nvPr/>
        </p:nvPicPr>
        <p:blipFill>
          <a:blip r:embed="rId1"/>
          <a:stretch/>
        </p:blipFill>
        <p:spPr>
          <a:xfrm>
            <a:off x="5580000" y="1352520"/>
            <a:ext cx="5282280" cy="5189760"/>
          </a:xfrm>
          <a:prstGeom prst="rect">
            <a:avLst/>
          </a:prstGeom>
          <a:ln w="0">
            <a:noFill/>
          </a:ln>
        </p:spPr>
      </p:pic>
      <p:sp>
        <p:nvSpPr>
          <p:cNvPr id="50" name="Google Shape;114;p22"/>
          <p:cNvSpPr/>
          <p:nvPr/>
        </p:nvSpPr>
        <p:spPr>
          <a:xfrm>
            <a:off x="388080" y="1937160"/>
            <a:ext cx="4322160" cy="366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42000"/>
              </a:lnSpc>
              <a:buNone/>
              <a:tabLst>
                <a:tab algn="l" pos="0"/>
              </a:tabLst>
            </a:pPr>
            <a:r>
              <a:rPr b="0" lang="ru-RU" sz="1700" spc="-1" strike="noStrike">
                <a:solidFill>
                  <a:srgbClr val="000000"/>
                </a:solidFill>
                <a:latin typeface="IBM Plex Sans ExtraLight"/>
                <a:ea typeface="IBM Plex Sans ExtraLight"/>
              </a:rPr>
              <a:t>Direct memory access (DMA), или прямой доступ к памяти (ПДП) используется для быстрой передачи данных между памятью и периферийным устройством, памятью и памятью, или между двумя периферийными устройствами без участия процессора.</a:t>
            </a:r>
            <a:endParaRPr b="0" lang="ru-RU" sz="1700" spc="-1" strike="noStrike">
              <a:latin typeface="Arial"/>
            </a:endParaRPr>
          </a:p>
        </p:txBody>
      </p:sp>
      <p:pic>
        <p:nvPicPr>
          <p:cNvPr id="51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120;p23"/>
          <p:cNvSpPr/>
          <p:nvPr/>
        </p:nvSpPr>
        <p:spPr>
          <a:xfrm>
            <a:off x="0" y="2740320"/>
            <a:ext cx="9502560" cy="17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72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DAC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53" name="Google Shape;121;p23" descr=""/>
          <p:cNvPicPr/>
          <p:nvPr/>
        </p:nvPicPr>
        <p:blipFill>
          <a:blip r:embed="rId1">
            <a:alphaModFix amt="60000"/>
          </a:blip>
          <a:stretch/>
        </p:blipFill>
        <p:spPr>
          <a:xfrm>
            <a:off x="10369800" y="330120"/>
            <a:ext cx="1600560" cy="273600"/>
          </a:xfrm>
          <a:prstGeom prst="rect">
            <a:avLst/>
          </a:prstGeom>
          <a:ln w="0">
            <a:noFill/>
          </a:ln>
        </p:spPr>
      </p:pic>
      <p:pic>
        <p:nvPicPr>
          <p:cNvPr id="54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126;p24"/>
          <p:cNvSpPr/>
          <p:nvPr/>
        </p:nvSpPr>
        <p:spPr>
          <a:xfrm>
            <a:off x="1440" y="524880"/>
            <a:ext cx="8698680" cy="17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Массив данных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56" name="Google Shape;128;p24" descr=""/>
          <p:cNvPicPr/>
          <p:nvPr/>
        </p:nvPicPr>
        <p:blipFill>
          <a:blip r:embed="rId1"/>
          <a:stretch/>
        </p:blipFill>
        <p:spPr>
          <a:xfrm>
            <a:off x="4340520" y="1627560"/>
            <a:ext cx="6253920" cy="4262040"/>
          </a:xfrm>
          <a:prstGeom prst="rect">
            <a:avLst/>
          </a:prstGeom>
          <a:ln w="0">
            <a:noFill/>
          </a:ln>
        </p:spPr>
      </p:pic>
      <p:sp>
        <p:nvSpPr>
          <p:cNvPr id="57" name="Google Shape;129;p24"/>
          <p:cNvSpPr/>
          <p:nvPr/>
        </p:nvSpPr>
        <p:spPr>
          <a:xfrm>
            <a:off x="596520" y="1696320"/>
            <a:ext cx="659412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Сигнал</a:t>
            </a:r>
            <a:endParaRPr b="0" lang="ru-RU" sz="1400" spc="-1" strike="noStrike"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134;p25"/>
          <p:cNvSpPr/>
          <p:nvPr/>
        </p:nvSpPr>
        <p:spPr>
          <a:xfrm>
            <a:off x="1440" y="524880"/>
            <a:ext cx="8698680" cy="17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Массив данных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60" name="Google Shape;136;p25" descr=""/>
          <p:cNvPicPr/>
          <p:nvPr/>
        </p:nvPicPr>
        <p:blipFill>
          <a:blip r:embed="rId1"/>
          <a:stretch/>
        </p:blipFill>
        <p:spPr>
          <a:xfrm>
            <a:off x="1295640" y="2719080"/>
            <a:ext cx="9600120" cy="1159200"/>
          </a:xfrm>
          <a:prstGeom prst="rect">
            <a:avLst/>
          </a:prstGeom>
          <a:ln w="0">
            <a:noFill/>
          </a:ln>
        </p:spPr>
      </p:pic>
      <p:pic>
        <p:nvPicPr>
          <p:cNvPr id="61" name="Google Shape;137;p25" descr=""/>
          <p:cNvPicPr/>
          <p:nvPr/>
        </p:nvPicPr>
        <p:blipFill>
          <a:blip r:embed="rId2"/>
          <a:stretch/>
        </p:blipFill>
        <p:spPr>
          <a:xfrm>
            <a:off x="1295640" y="4852440"/>
            <a:ext cx="9600120" cy="567720"/>
          </a:xfrm>
          <a:prstGeom prst="rect">
            <a:avLst/>
          </a:prstGeom>
          <a:ln w="0">
            <a:noFill/>
          </a:ln>
        </p:spPr>
      </p:pic>
      <p:sp>
        <p:nvSpPr>
          <p:cNvPr id="62" name="Google Shape;138;p25"/>
          <p:cNvSpPr/>
          <p:nvPr/>
        </p:nvSpPr>
        <p:spPr>
          <a:xfrm>
            <a:off x="687240" y="6053760"/>
            <a:ext cx="61700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8200" bIns="88200" anchor="t">
            <a:spAutoFit/>
          </a:bodyPr>
          <a:p>
            <a:pPr>
              <a:lnSpc>
                <a:spcPct val="115000"/>
              </a:lnSpc>
              <a:spcAft>
                <a:spcPts val="700"/>
              </a:spcAft>
              <a:buNone/>
              <a:tabLst>
                <a:tab algn="l" pos="0"/>
              </a:tabLst>
            </a:pPr>
            <a:r>
              <a:rPr b="0" lang="ru-RU" sz="1000" spc="-1" strike="noStrike">
                <a:solidFill>
                  <a:srgbClr val="2c2d30"/>
                </a:solidFill>
                <a:latin typeface="Montserrat"/>
                <a:ea typeface="Montserrat"/>
              </a:rPr>
              <a:t> </a:t>
            </a:r>
            <a:r>
              <a:rPr b="0" lang="ru-RU" sz="1000" spc="-1" strike="noStrike">
                <a:solidFill>
                  <a:srgbClr val="2c2d30"/>
                </a:solidFill>
                <a:latin typeface="Montserrat"/>
                <a:ea typeface="Montserrat"/>
              </a:rPr>
              <a:t>x – фаза сигнала, Ns – количество сэмплов на период сигнала</a:t>
            </a:r>
            <a:endParaRPr b="0" lang="ru-RU" sz="1000" spc="-1" strike="noStrike">
              <a:latin typeface="Arial"/>
            </a:endParaRPr>
          </a:p>
        </p:txBody>
      </p:sp>
      <p:sp>
        <p:nvSpPr>
          <p:cNvPr id="63" name="Google Shape;139;p25"/>
          <p:cNvSpPr/>
          <p:nvPr/>
        </p:nvSpPr>
        <p:spPr>
          <a:xfrm>
            <a:off x="687240" y="2105640"/>
            <a:ext cx="659412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Формула для нахождения моментального значения сигнала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4" name="Google Shape;140;p25"/>
          <p:cNvSpPr/>
          <p:nvPr/>
        </p:nvSpPr>
        <p:spPr>
          <a:xfrm>
            <a:off x="687240" y="4155840"/>
            <a:ext cx="659412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Формула для нахождения реального значения сигнала</a:t>
            </a:r>
            <a:endParaRPr b="0" lang="ru-RU" sz="1400" spc="-1" strike="noStrike"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3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145;p26"/>
          <p:cNvSpPr/>
          <p:nvPr/>
        </p:nvSpPr>
        <p:spPr>
          <a:xfrm>
            <a:off x="1440" y="524880"/>
            <a:ext cx="8698680" cy="17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Массив данных</a:t>
            </a:r>
            <a:endParaRPr b="0" lang="ru-RU" sz="3100" spc="-1" strike="noStrike">
              <a:latin typeface="Arial"/>
            </a:endParaRPr>
          </a:p>
        </p:txBody>
      </p:sp>
      <p:sp>
        <p:nvSpPr>
          <p:cNvPr id="67" name="Google Shape;147;p26"/>
          <p:cNvSpPr/>
          <p:nvPr/>
        </p:nvSpPr>
        <p:spPr>
          <a:xfrm>
            <a:off x="479160" y="1875600"/>
            <a:ext cx="11371680" cy="310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uint16_t stbl[480] = 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   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{  0,   7,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13,  20,  26,  33,  39,  46,  52,  59,  66,  72,  79,  85,  92,  98, 105, 111, 118, 124, 131, 137, 144, 150, 157, 163, 170, 176, 183, 189, 195, 202,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208, 215, 221, 228, 234, 240, 247, 253, 259, 266, 272, 278, 285, 291, 297, 303, 310, 316, 322, 328, 334, 341, 347, 353, 359, 365, 371, 377, 383, 389, 396, 402, 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408, 414, 419, 425, 431, 437, 443, 449, 455, 461, 467, 472, 478, 484, 490, 495, 501, 507, 512, 518, 523, 529, 535, 540, 546, 551, 557, 562, 567, 573, 578, 584, 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589, 594, 599, 605, 610, 615, 620, 625, 630, 636, 641, 646, 651, 656, 660, 665, 670, 675, 680, 685, 690, 694, 699, 704, 708, 713, 717, 722, 727, 731, 735, 740, 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744, 749, 753, 757, 762, 766, 770, 774, 778, 782, 786, 791, 795, 798, 802, 806, 810, 814, 818, 822, 825, 829, 833, 836, 840, 843, 847, 850, 854, 857, 861, 864, 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867, 870, 874, 877, 880, 883, 886, 889, 892, 895, 898, 901, 904, 906, 909, 912, 915, 917, 920, 922, 925, 927, 930, 932, 934, 937, 939, 941, 943, 946, 948, 950, 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952, 954, 956, 958, 960, 961, 963, 965, 967, 968, 970, 971, 973, 975, 976, 977, 979, 980, 981, 983, 984, 985, 986, 987, 988, 989, 990, 991, 992, 993, 993, 994, 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995, 995, 996, 997, 997, 998, 998, 998, 999, 999, 999, 1000,1000,1000,1000,1000, 1000,1000,1000,1000,1000,999, 999, 999, 998, 998, 998, 997, 997, 996, 995,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995, 994, 993, 993, 992, 991, 990, 989, 988, 987, 986, 985, 984, 983, 981, 980, 979, 977, 976, 975, 973, 971, 970, 968, 967, 965, 963, 961, 960, 958, 956, 954,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952, 950, 948, 946, 943, 941, 939, 937, 934, 932, 930, 927, 925, 922, 920, 917, 915, 912, 909, 906, 904, 901, 898, 895, 892, 889, 886, 883, 880, 877, 874, 870,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867, 864, 861, 857, 854, 850, 847, 843, 840, 836, 833, 829, 825, 822, 818, 814, 810, 806, 802, 798, 795, 791, 786, 782, 778, 774, 770, 766, 762, 757, 753, 749,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744, 740, 735, 731, 727, 722, 717, 713, 708, 704, 699, 694, 690, 685, 680, 675, 670, 665, 660, 656, 651, 646, 641, 636, 630, 625, 620, 615, 610, 605, 599, 594,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589, 584, 578, 573, 567, 562, 557, 551, 546, 540, 535, 529, 523, 518, 512, 507, 501, 495, 490, 484, 478, 472, 467, 461, 455, 449, 443, 437, 431, 425, 419, 414,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408, 402, 396, 389, 383, 377, 371, 365, 359, 353, 347, 341, 334, 328, 322, 316, 310, 303, 297, 291, 285, 278, 272, 266, 259, 253, 247, 240, 234, 228, 221, 215,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ru-RU" sz="1200" spc="-1" strike="noStrike">
                <a:solidFill>
                  <a:srgbClr val="000000"/>
                </a:solidFill>
                <a:latin typeface="Arial"/>
                <a:ea typeface="Arial"/>
              </a:rPr>
              <a:t>208, 202, 195, 189, 183, 176, 170, 163, 157, 150, 144, 137, 131, 124, 118, 111, 105, 98,  92,  85,  79,  72,  66,  59,  52,  46,  39,  33,  26,  20,  13,  7,   0};</a:t>
            </a:r>
            <a:endParaRPr b="0" lang="ru-RU" sz="1200" spc="-1" strike="noStrike"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152;p27"/>
          <p:cNvSpPr/>
          <p:nvPr/>
        </p:nvSpPr>
        <p:spPr>
          <a:xfrm>
            <a:off x="1440" y="52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Настройка периферии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70" name="Google Shape;154;p27" descr=""/>
          <p:cNvPicPr/>
          <p:nvPr/>
        </p:nvPicPr>
        <p:blipFill>
          <a:blip r:embed="rId1"/>
          <a:stretch/>
        </p:blipFill>
        <p:spPr>
          <a:xfrm>
            <a:off x="1438920" y="1437480"/>
            <a:ext cx="9138600" cy="4646520"/>
          </a:xfrm>
          <a:prstGeom prst="rect">
            <a:avLst/>
          </a:prstGeom>
          <a:ln w="0">
            <a:noFill/>
          </a:ln>
        </p:spPr>
      </p:pic>
      <p:pic>
        <p:nvPicPr>
          <p:cNvPr id="71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159;p28"/>
          <p:cNvSpPr/>
          <p:nvPr/>
        </p:nvSpPr>
        <p:spPr>
          <a:xfrm>
            <a:off x="1440" y="52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Настройка периферии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73" name="Google Shape;161;p28" descr=""/>
          <p:cNvPicPr/>
          <p:nvPr/>
        </p:nvPicPr>
        <p:blipFill>
          <a:blip r:embed="rId1"/>
          <a:stretch/>
        </p:blipFill>
        <p:spPr>
          <a:xfrm>
            <a:off x="1721520" y="1360440"/>
            <a:ext cx="8977320" cy="5273280"/>
          </a:xfrm>
          <a:prstGeom prst="rect">
            <a:avLst/>
          </a:prstGeom>
          <a:ln w="0">
            <a:noFill/>
          </a:ln>
        </p:spPr>
      </p:pic>
      <p:pic>
        <p:nvPicPr>
          <p:cNvPr id="74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166;p29"/>
          <p:cNvSpPr/>
          <p:nvPr/>
        </p:nvSpPr>
        <p:spPr>
          <a:xfrm>
            <a:off x="1440" y="992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Настройка периферии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76" name="Google Shape;168;p29" descr=""/>
          <p:cNvPicPr/>
          <p:nvPr/>
        </p:nvPicPr>
        <p:blipFill>
          <a:blip r:embed="rId1"/>
          <a:stretch/>
        </p:blipFill>
        <p:spPr>
          <a:xfrm>
            <a:off x="2608200" y="2822040"/>
            <a:ext cx="6514560" cy="1904400"/>
          </a:xfrm>
          <a:prstGeom prst="rect">
            <a:avLst/>
          </a:prstGeom>
          <a:ln w="0">
            <a:noFill/>
          </a:ln>
        </p:spPr>
      </p:pic>
      <p:pic>
        <p:nvPicPr>
          <p:cNvPr id="77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173;p30"/>
          <p:cNvSpPr/>
          <p:nvPr/>
        </p:nvSpPr>
        <p:spPr>
          <a:xfrm>
            <a:off x="1440" y="52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Тактирование DAC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79" name="Google Shape;175;p30" descr=""/>
          <p:cNvPicPr/>
          <p:nvPr/>
        </p:nvPicPr>
        <p:blipFill>
          <a:blip r:embed="rId1"/>
          <a:stretch/>
        </p:blipFill>
        <p:spPr>
          <a:xfrm>
            <a:off x="3596760" y="1487880"/>
            <a:ext cx="4696920" cy="4921560"/>
          </a:xfrm>
          <a:prstGeom prst="rect">
            <a:avLst/>
          </a:prstGeom>
          <a:ln w="0">
            <a:noFill/>
          </a:ln>
        </p:spPr>
      </p:pic>
      <p:pic>
        <p:nvPicPr>
          <p:cNvPr id="80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80;p31"/>
          <p:cNvSpPr/>
          <p:nvPr/>
        </p:nvSpPr>
        <p:spPr>
          <a:xfrm>
            <a:off x="1440" y="52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Тактирование DAC (таймер)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82" name="Google Shape;182;p31" descr=""/>
          <p:cNvPicPr/>
          <p:nvPr/>
        </p:nvPicPr>
        <p:blipFill>
          <a:blip r:embed="rId1"/>
          <a:stretch/>
        </p:blipFill>
        <p:spPr>
          <a:xfrm>
            <a:off x="1705680" y="2327760"/>
            <a:ext cx="8780040" cy="4376880"/>
          </a:xfrm>
          <a:prstGeom prst="rect">
            <a:avLst/>
          </a:prstGeom>
          <a:ln w="0">
            <a:noFill/>
          </a:ln>
        </p:spPr>
      </p:pic>
      <p:pic>
        <p:nvPicPr>
          <p:cNvPr id="83" name="Google Shape;183;p31" descr=""/>
          <p:cNvPicPr/>
          <p:nvPr/>
        </p:nvPicPr>
        <p:blipFill>
          <a:blip r:embed="rId2"/>
          <a:stretch/>
        </p:blipFill>
        <p:spPr>
          <a:xfrm>
            <a:off x="3898800" y="1411560"/>
            <a:ext cx="4393800" cy="767520"/>
          </a:xfrm>
          <a:prstGeom prst="rect">
            <a:avLst/>
          </a:prstGeom>
          <a:ln w="0">
            <a:noFill/>
          </a:ln>
        </p:spPr>
      </p:pic>
      <p:pic>
        <p:nvPicPr>
          <p:cNvPr id="84" name="" descr=""/>
          <p:cNvPicPr/>
          <p:nvPr/>
        </p:nvPicPr>
        <p:blipFill>
          <a:blip r:embed="rId3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188;p32"/>
          <p:cNvSpPr/>
          <p:nvPr/>
        </p:nvSpPr>
        <p:spPr>
          <a:xfrm>
            <a:off x="1440" y="52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DAC (код)</a:t>
            </a:r>
            <a:endParaRPr b="0" lang="ru-RU" sz="3100" spc="-1" strike="noStrike">
              <a:latin typeface="Arial"/>
            </a:endParaRPr>
          </a:p>
        </p:txBody>
      </p:sp>
      <p:sp>
        <p:nvSpPr>
          <p:cNvPr id="86" name="Google Shape;190;p32"/>
          <p:cNvSpPr/>
          <p:nvPr/>
        </p:nvSpPr>
        <p:spPr>
          <a:xfrm>
            <a:off x="896760" y="1630800"/>
            <a:ext cx="1031184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Montserrat"/>
                <a:ea typeface="Montserrat"/>
              </a:rPr>
              <a:t>HAL_TIM_Base_Start(&amp;htim6); </a:t>
            </a:r>
            <a:endParaRPr b="0" lang="ru-RU" sz="1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Montserrat"/>
                <a:ea typeface="Montserrat"/>
              </a:rPr>
              <a:t>HAL_DAC_Start(&amp;hdac,DAC_CHANNEL_1); </a:t>
            </a:r>
            <a:endParaRPr b="0" lang="ru-RU" sz="1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Montserrat"/>
                <a:ea typeface="Montserrat"/>
              </a:rPr>
              <a:t>HAL_DAC_Start_DMA(&amp;hdac, DAC_CHANNEL_1, (uint16_t*)stbl, 480, DAC_ALIGN_12B_R);</a:t>
            </a:r>
            <a:endParaRPr b="0" lang="ru-RU" sz="1900" spc="-1" strike="noStrike">
              <a:latin typeface="Arial"/>
            </a:endParaRPr>
          </a:p>
        </p:txBody>
      </p:sp>
      <p:sp>
        <p:nvSpPr>
          <p:cNvPr id="87" name="Google Shape;191;p32"/>
          <p:cNvSpPr/>
          <p:nvPr/>
        </p:nvSpPr>
        <p:spPr>
          <a:xfrm>
            <a:off x="825480" y="3241080"/>
            <a:ext cx="1057680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marL="457200" indent="-406440">
              <a:lnSpc>
                <a:spcPct val="10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ru-RU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HAL_DAC_Start_DMA():</a:t>
            </a:r>
            <a:endParaRPr b="0" lang="ru-RU" sz="2800" spc="-1" strike="noStrike">
              <a:latin typeface="Arial"/>
            </a:endParaRPr>
          </a:p>
          <a:p>
            <a:pPr lvl="2" marL="1371600" indent="-406440">
              <a:lnSpc>
                <a:spcPct val="100000"/>
              </a:lnSpc>
              <a:buClr>
                <a:srgbClr val="000000"/>
              </a:buClr>
              <a:buFont typeface="Montserrat"/>
              <a:buChar char="■"/>
            </a:pPr>
            <a:r>
              <a:rPr b="0" lang="ru-RU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HAL_DAC_ConvHalfCpltCallbackCh1()</a:t>
            </a:r>
            <a:endParaRPr b="0" lang="ru-RU" sz="2800" spc="-1" strike="noStrike">
              <a:latin typeface="Arial"/>
            </a:endParaRPr>
          </a:p>
          <a:p>
            <a:pPr lvl="2" marL="1371600" indent="-406440">
              <a:lnSpc>
                <a:spcPct val="100000"/>
              </a:lnSpc>
              <a:buClr>
                <a:srgbClr val="000000"/>
              </a:buClr>
              <a:buFont typeface="Montserrat"/>
              <a:buChar char="■"/>
            </a:pPr>
            <a:r>
              <a:rPr b="0" lang="ru-RU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HAL_DACEx_ConvHalfCpltCallbackCh2().</a:t>
            </a:r>
            <a:endParaRPr b="0" lang="ru-RU" sz="2800" spc="-1" strike="noStrike">
              <a:latin typeface="Arial"/>
            </a:endParaRPr>
          </a:p>
          <a:p>
            <a:pPr lvl="2" marL="1371600" indent="-406440">
              <a:lnSpc>
                <a:spcPct val="100000"/>
              </a:lnSpc>
              <a:buClr>
                <a:srgbClr val="000000"/>
              </a:buClr>
              <a:buFont typeface="Montserrat"/>
              <a:buChar char="■"/>
            </a:pPr>
            <a:r>
              <a:rPr b="0" lang="ru-RU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HAL_DAC_ConvCpltCallbackCh1()</a:t>
            </a:r>
            <a:endParaRPr b="0" lang="ru-RU" sz="2800" spc="-1" strike="noStrike">
              <a:latin typeface="Arial"/>
            </a:endParaRPr>
          </a:p>
          <a:p>
            <a:pPr lvl="2" marL="1371600" indent="-406440">
              <a:lnSpc>
                <a:spcPct val="100000"/>
              </a:lnSpc>
              <a:buClr>
                <a:srgbClr val="000000"/>
              </a:buClr>
              <a:buFont typeface="Montserrat"/>
              <a:buChar char="■"/>
            </a:pPr>
            <a:r>
              <a:rPr b="0" lang="ru-RU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HAL_DACEx_ConvHalfCpltCallbackCh2()</a:t>
            </a:r>
            <a:endParaRPr b="0" lang="ru-RU" sz="2800" spc="-1" strike="noStrike">
              <a:latin typeface="Arial"/>
            </a:endParaRPr>
          </a:p>
          <a:p>
            <a:pPr marL="457200" indent="-406440">
              <a:lnSpc>
                <a:spcPct val="100000"/>
              </a:lnSpc>
              <a:buClr>
                <a:srgbClr val="000000"/>
              </a:buClr>
              <a:buFont typeface="Montserrat"/>
              <a:buAutoNum type="arabicPeriod" startAt="2"/>
            </a:pPr>
            <a:r>
              <a:rPr b="0" lang="ru-RU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HAL_DAC_Stop_DMA()</a:t>
            </a:r>
            <a:endParaRPr b="0" lang="ru-RU" sz="2800" spc="-1" strike="noStrike"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196;p33"/>
          <p:cNvSpPr/>
          <p:nvPr/>
        </p:nvSpPr>
        <p:spPr>
          <a:xfrm>
            <a:off x="1440" y="52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DAC (частоты)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90" name="Google Shape;198;p33" descr=""/>
          <p:cNvPicPr/>
          <p:nvPr/>
        </p:nvPicPr>
        <p:blipFill>
          <a:blip r:embed="rId1"/>
          <a:stretch/>
        </p:blipFill>
        <p:spPr>
          <a:xfrm>
            <a:off x="3346200" y="1630800"/>
            <a:ext cx="5499000" cy="4921560"/>
          </a:xfrm>
          <a:prstGeom prst="rect">
            <a:avLst/>
          </a:prstGeom>
          <a:ln w="0">
            <a:noFill/>
          </a:ln>
        </p:spPr>
      </p:pic>
      <p:pic>
        <p:nvPicPr>
          <p:cNvPr id="91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204;p34"/>
          <p:cNvSpPr/>
          <p:nvPr/>
        </p:nvSpPr>
        <p:spPr>
          <a:xfrm>
            <a:off x="0" y="2740320"/>
            <a:ext cx="9502560" cy="17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72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SPI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93" name="Google Shape;205;p34" descr=""/>
          <p:cNvPicPr/>
          <p:nvPr/>
        </p:nvPicPr>
        <p:blipFill>
          <a:blip r:embed="rId1">
            <a:alphaModFix amt="60000"/>
          </a:blip>
          <a:stretch/>
        </p:blipFill>
        <p:spPr>
          <a:xfrm>
            <a:off x="10369800" y="330120"/>
            <a:ext cx="1600560" cy="273600"/>
          </a:xfrm>
          <a:prstGeom prst="rect">
            <a:avLst/>
          </a:prstGeom>
          <a:ln w="0">
            <a:noFill/>
          </a:ln>
        </p:spPr>
      </p:pic>
      <p:pic>
        <p:nvPicPr>
          <p:cNvPr id="94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210;p35"/>
          <p:cNvSpPr/>
          <p:nvPr/>
        </p:nvSpPr>
        <p:spPr>
          <a:xfrm>
            <a:off x="1440" y="52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SPI (передаваемые структуры)</a:t>
            </a:r>
            <a:endParaRPr b="0" lang="ru-RU" sz="3100" spc="-1" strike="noStrike">
              <a:latin typeface="Arial"/>
            </a:endParaRPr>
          </a:p>
        </p:txBody>
      </p:sp>
      <p:sp>
        <p:nvSpPr>
          <p:cNvPr id="96" name="Google Shape;212;p35"/>
          <p:cNvSpPr/>
          <p:nvPr/>
        </p:nvSpPr>
        <p:spPr>
          <a:xfrm>
            <a:off x="668160" y="1554840"/>
            <a:ext cx="1031184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typedef struct {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  </a:t>
            </a: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uint32_t  QIdent; 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  </a:t>
            </a: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uint8_t   Command;   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  </a:t>
            </a: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uint8_t   Mode;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  </a:t>
            </a: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uint16_t  Cascade;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  </a:t>
            </a: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uint16_t  Echo;</a:t>
            </a: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	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} WSDQuery_t;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typedef struct {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  </a:t>
            </a: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uint32_t  QIdent; 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  </a:t>
            </a: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uint16_t  Paralax_1;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  </a:t>
            </a: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uint16_t  Paralax_2;</a:t>
            </a: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	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  </a:t>
            </a: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uint16_t  Distance_1;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  </a:t>
            </a: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uint16_t  Distance_2;</a:t>
            </a: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	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  </a:t>
            </a: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uint16_t  Connected;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  </a:t>
            </a: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uint8_t   ErrorCode;</a:t>
            </a: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	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} WSDAnswer_t;</a:t>
            </a:r>
            <a:endParaRPr b="0" lang="ru-RU" sz="1800" spc="-1" strike="noStrike"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217;p36"/>
          <p:cNvSpPr/>
          <p:nvPr/>
        </p:nvSpPr>
        <p:spPr>
          <a:xfrm>
            <a:off x="1440" y="668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SPI (Ведущее устройство)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99" name="Google Shape;219;p36" descr=""/>
          <p:cNvPicPr/>
          <p:nvPr/>
        </p:nvPicPr>
        <p:blipFill>
          <a:blip r:embed="rId1"/>
          <a:stretch/>
        </p:blipFill>
        <p:spPr>
          <a:xfrm>
            <a:off x="1980000" y="1625400"/>
            <a:ext cx="8613360" cy="4712760"/>
          </a:xfrm>
          <a:prstGeom prst="rect">
            <a:avLst/>
          </a:prstGeom>
          <a:ln w="0">
            <a:noFill/>
          </a:ln>
        </p:spPr>
      </p:pic>
      <p:pic>
        <p:nvPicPr>
          <p:cNvPr id="100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224;p37"/>
          <p:cNvSpPr/>
          <p:nvPr/>
        </p:nvSpPr>
        <p:spPr>
          <a:xfrm>
            <a:off x="1440" y="88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SPI (Ведущее устройство)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02" name="Google Shape;226;p37" descr=""/>
          <p:cNvPicPr/>
          <p:nvPr/>
        </p:nvPicPr>
        <p:blipFill>
          <a:blip r:embed="rId1"/>
          <a:stretch/>
        </p:blipFill>
        <p:spPr>
          <a:xfrm>
            <a:off x="2543040" y="2061720"/>
            <a:ext cx="7104960" cy="1504080"/>
          </a:xfrm>
          <a:prstGeom prst="rect">
            <a:avLst/>
          </a:prstGeom>
          <a:ln w="0">
            <a:noFill/>
          </a:ln>
        </p:spPr>
      </p:pic>
      <p:pic>
        <p:nvPicPr>
          <p:cNvPr id="103" name="Google Shape;227;p37" descr=""/>
          <p:cNvPicPr/>
          <p:nvPr/>
        </p:nvPicPr>
        <p:blipFill>
          <a:blip r:embed="rId2"/>
          <a:stretch/>
        </p:blipFill>
        <p:spPr>
          <a:xfrm>
            <a:off x="2562120" y="3994200"/>
            <a:ext cx="7066800" cy="141840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"/>
          <p:cNvPicPr/>
          <p:nvPr/>
        </p:nvPicPr>
        <p:blipFill>
          <a:blip r:embed="rId3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232;p38"/>
          <p:cNvSpPr/>
          <p:nvPr/>
        </p:nvSpPr>
        <p:spPr>
          <a:xfrm>
            <a:off x="1440" y="52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SPI (код)</a:t>
            </a:r>
            <a:endParaRPr b="0" lang="ru-RU" sz="3100" spc="-1" strike="noStrike">
              <a:latin typeface="Arial"/>
            </a:endParaRPr>
          </a:p>
        </p:txBody>
      </p:sp>
      <p:sp>
        <p:nvSpPr>
          <p:cNvPr id="106" name="Google Shape;234;p38"/>
          <p:cNvSpPr/>
          <p:nvPr/>
        </p:nvSpPr>
        <p:spPr>
          <a:xfrm>
            <a:off x="592200" y="1630800"/>
            <a:ext cx="103118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HAL_GPIO_WritePin(SPI_CS_GPIO_Port, SPI_CS_Pin, GPIO_PIN_RESET);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isReceived = 0x00;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HAL_SPI_Transmit_DMA(&amp;hspi2, WSDQuery, sizeof(WSDQuery));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void HAL_SPI_TxCpltCallback(SPI_HandleTypeDef *hspi)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{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	</a:t>
            </a: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HAL_SPI_Receive_DMA(&amp;hspi2, WSDAnswer, sizeof(WSDAnswer));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}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void HAL_SPI_RxCpltCallback(SPI_HandleTypeDef *hspi)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{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	</a:t>
            </a: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isReceive = 0x01;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	</a:t>
            </a: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HAL_GPIO_WritePin(SPI_CS_GPIO_Port, SPI_CS_Pin, GPIO_PIN_SET);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}</a:t>
            </a:r>
            <a:endParaRPr b="0" lang="ru-RU" sz="1800" spc="-1" strike="noStrike">
              <a:latin typeface="Arial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239;p39"/>
          <p:cNvSpPr/>
          <p:nvPr/>
        </p:nvSpPr>
        <p:spPr>
          <a:xfrm>
            <a:off x="1440" y="52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SPI (Ведомое устройство)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09" name="Google Shape;241;p39" descr=""/>
          <p:cNvPicPr/>
          <p:nvPr/>
        </p:nvPicPr>
        <p:blipFill>
          <a:blip r:embed="rId1"/>
          <a:stretch/>
        </p:blipFill>
        <p:spPr>
          <a:xfrm>
            <a:off x="1500480" y="1416600"/>
            <a:ext cx="8663040" cy="4921560"/>
          </a:xfrm>
          <a:prstGeom prst="rect">
            <a:avLst/>
          </a:prstGeom>
          <a:ln w="0">
            <a:noFill/>
          </a:ln>
        </p:spPr>
      </p:pic>
      <p:pic>
        <p:nvPicPr>
          <p:cNvPr id="110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246;p40"/>
          <p:cNvSpPr/>
          <p:nvPr/>
        </p:nvSpPr>
        <p:spPr>
          <a:xfrm>
            <a:off x="1440" y="52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SPI (Ведомое устройство)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12" name="Google Shape;248;p40" descr=""/>
          <p:cNvPicPr/>
          <p:nvPr/>
        </p:nvPicPr>
        <p:blipFill>
          <a:blip r:embed="rId1"/>
          <a:stretch/>
        </p:blipFill>
        <p:spPr>
          <a:xfrm>
            <a:off x="2824200" y="1762920"/>
            <a:ext cx="6543000" cy="1447200"/>
          </a:xfrm>
          <a:prstGeom prst="rect">
            <a:avLst/>
          </a:prstGeom>
          <a:ln w="0">
            <a:noFill/>
          </a:ln>
        </p:spPr>
      </p:pic>
      <p:pic>
        <p:nvPicPr>
          <p:cNvPr id="113" name="Google Shape;249;p40" descr=""/>
          <p:cNvPicPr/>
          <p:nvPr/>
        </p:nvPicPr>
        <p:blipFill>
          <a:blip r:embed="rId2"/>
          <a:stretch/>
        </p:blipFill>
        <p:spPr>
          <a:xfrm>
            <a:off x="2857680" y="3994920"/>
            <a:ext cx="6476400" cy="1418400"/>
          </a:xfrm>
          <a:prstGeom prst="rect">
            <a:avLst/>
          </a:prstGeom>
          <a:ln w="0">
            <a:noFill/>
          </a:ln>
        </p:spPr>
      </p:pic>
      <p:pic>
        <p:nvPicPr>
          <p:cNvPr id="114" name="" descr=""/>
          <p:cNvPicPr/>
          <p:nvPr/>
        </p:nvPicPr>
        <p:blipFill>
          <a:blip r:embed="rId3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254;p41"/>
          <p:cNvSpPr/>
          <p:nvPr/>
        </p:nvSpPr>
        <p:spPr>
          <a:xfrm>
            <a:off x="1440" y="52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SPI (код)</a:t>
            </a:r>
            <a:endParaRPr b="0" lang="ru-RU" sz="3100" spc="-1" strike="noStrike">
              <a:latin typeface="Arial"/>
            </a:endParaRPr>
          </a:p>
        </p:txBody>
      </p:sp>
      <p:sp>
        <p:nvSpPr>
          <p:cNvPr id="116" name="Google Shape;256;p41"/>
          <p:cNvSpPr/>
          <p:nvPr/>
        </p:nvSpPr>
        <p:spPr>
          <a:xfrm>
            <a:off x="668160" y="1630800"/>
            <a:ext cx="1031184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HAL_SPI_Receive_DMA(&amp;hspi1, WSDQuery, sizeof(WSDQuery));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void HAL_SPI_RxCpltCallback(SPI_HandleTypeDef *hspi)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{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	</a:t>
            </a: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HAL_SPI_Transmit_DMA(&amp;hspi1, WSDAnswer, sizeof(WSDAnswer));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};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void HAL_SPI_TxCpltCallback(SPI_HandleTypeDef *hspi)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{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	</a:t>
            </a: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HAL_SPI_Receive_DMA(&amp;hspi1, received, sizeof(received));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Montserrat"/>
                <a:ea typeface="Montserrat"/>
              </a:rPr>
              <a:t>}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262;p42"/>
          <p:cNvSpPr/>
          <p:nvPr/>
        </p:nvSpPr>
        <p:spPr>
          <a:xfrm>
            <a:off x="0" y="2740320"/>
            <a:ext cx="9502560" cy="17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72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TIM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19" name="Google Shape;263;p42" descr=""/>
          <p:cNvPicPr/>
          <p:nvPr/>
        </p:nvPicPr>
        <p:blipFill>
          <a:blip r:embed="rId1">
            <a:alphaModFix amt="60000"/>
          </a:blip>
          <a:stretch/>
        </p:blipFill>
        <p:spPr>
          <a:xfrm>
            <a:off x="10369800" y="330120"/>
            <a:ext cx="1600560" cy="273600"/>
          </a:xfrm>
          <a:prstGeom prst="rect">
            <a:avLst/>
          </a:prstGeom>
          <a:ln w="0">
            <a:noFill/>
          </a:ln>
        </p:spPr>
      </p:pic>
      <p:pic>
        <p:nvPicPr>
          <p:cNvPr id="120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268;p43"/>
          <p:cNvSpPr/>
          <p:nvPr/>
        </p:nvSpPr>
        <p:spPr>
          <a:xfrm>
            <a:off x="1440" y="52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TIM (Настройка)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22" name="Google Shape;270;p43" descr=""/>
          <p:cNvPicPr/>
          <p:nvPr/>
        </p:nvPicPr>
        <p:blipFill>
          <a:blip r:embed="rId1"/>
          <a:stretch/>
        </p:blipFill>
        <p:spPr>
          <a:xfrm>
            <a:off x="1477800" y="1497960"/>
            <a:ext cx="9567360" cy="4595760"/>
          </a:xfrm>
          <a:prstGeom prst="rect">
            <a:avLst/>
          </a:prstGeom>
          <a:ln w="0">
            <a:noFill/>
          </a:ln>
        </p:spPr>
      </p:pic>
      <p:pic>
        <p:nvPicPr>
          <p:cNvPr id="123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275;p44"/>
          <p:cNvSpPr/>
          <p:nvPr/>
        </p:nvSpPr>
        <p:spPr>
          <a:xfrm>
            <a:off x="1440" y="52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TIM (Настройка)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25" name="Google Shape;277;p44" descr=""/>
          <p:cNvPicPr/>
          <p:nvPr/>
        </p:nvPicPr>
        <p:blipFill>
          <a:blip r:embed="rId1"/>
          <a:stretch/>
        </p:blipFill>
        <p:spPr>
          <a:xfrm>
            <a:off x="2586960" y="1549080"/>
            <a:ext cx="7017480" cy="4921560"/>
          </a:xfrm>
          <a:prstGeom prst="rect">
            <a:avLst/>
          </a:prstGeom>
          <a:ln w="0">
            <a:noFill/>
          </a:ln>
        </p:spPr>
      </p:pic>
      <p:pic>
        <p:nvPicPr>
          <p:cNvPr id="126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282;p45"/>
          <p:cNvSpPr/>
          <p:nvPr/>
        </p:nvSpPr>
        <p:spPr>
          <a:xfrm>
            <a:off x="1440" y="52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TIM (Настройка)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28" name="Google Shape;284;p45" descr=""/>
          <p:cNvPicPr/>
          <p:nvPr/>
        </p:nvPicPr>
        <p:blipFill>
          <a:blip r:embed="rId1"/>
          <a:stretch/>
        </p:blipFill>
        <p:spPr>
          <a:xfrm>
            <a:off x="2373840" y="1630800"/>
            <a:ext cx="7190640" cy="4723560"/>
          </a:xfrm>
          <a:prstGeom prst="rect">
            <a:avLst/>
          </a:prstGeom>
          <a:ln w="0">
            <a:noFill/>
          </a:ln>
        </p:spPr>
      </p:pic>
      <p:pic>
        <p:nvPicPr>
          <p:cNvPr id="129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289;p46"/>
          <p:cNvSpPr/>
          <p:nvPr/>
        </p:nvSpPr>
        <p:spPr>
          <a:xfrm>
            <a:off x="1440" y="52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TIM (таблица синуса)</a:t>
            </a:r>
            <a:endParaRPr b="0" lang="ru-RU" sz="3100" spc="-1" strike="noStrike">
              <a:latin typeface="Arial"/>
            </a:endParaRPr>
          </a:p>
        </p:txBody>
      </p:sp>
      <p:sp>
        <p:nvSpPr>
          <p:cNvPr id="131" name="Google Shape;291;p46"/>
          <p:cNvSpPr/>
          <p:nvPr/>
        </p:nvSpPr>
        <p:spPr>
          <a:xfrm>
            <a:off x="866520" y="2497320"/>
            <a:ext cx="103118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uint32_t ssin[100] = {   0,   32,   63,   95,  127,  158,  189,  220,  251,  282,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       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312,  342,  372,  401,  430,  458,  486,  514,  541,  567,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       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593,  618,  643,  667,  690,  713,  735,  756,  776,  796,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       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815,  833,  850,  866,  881,  896,  910,  922,  934,  945,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       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955,  964,  972,  979,  985,  990,  994,  997,  999,  999,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       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999,  999,  997,  994,  990,  985,  979,  972,  964,  955,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       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945,  934,  922,  910,  896,  881,  866,  850,  833,  815,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       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796,  776,  756,  735,  713,  690,  667,  643,  618,  593,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       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567,  541,  514,  486,  458,  430,  401,  372,  342,  312,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       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282,  251,  220,  189,  158,  127,   95,   63,   32,    0};</a:t>
            </a:r>
            <a:endParaRPr b="0" lang="ru-RU" sz="1800" spc="-1" strike="noStrike">
              <a:latin typeface="Arial"/>
            </a:endParaRPr>
          </a:p>
        </p:txBody>
      </p:sp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296;p47"/>
          <p:cNvSpPr/>
          <p:nvPr/>
        </p:nvSpPr>
        <p:spPr>
          <a:xfrm>
            <a:off x="1440" y="52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TIM (код)</a:t>
            </a:r>
            <a:endParaRPr b="0" lang="ru-RU" sz="3100" spc="-1" strike="noStrike">
              <a:latin typeface="Arial"/>
            </a:endParaRPr>
          </a:p>
        </p:txBody>
      </p:sp>
      <p:sp>
        <p:nvSpPr>
          <p:cNvPr id="134" name="Google Shape;298;p47"/>
          <p:cNvSpPr/>
          <p:nvPr/>
        </p:nvSpPr>
        <p:spPr>
          <a:xfrm>
            <a:off x="886680" y="1630800"/>
            <a:ext cx="103118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HAL_TIM_PWM_Start_DMA(&amp;htim2, TIM_CHANNEL_1, ssin, 100);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void HAL_TIM_PWM_PulseFinishedCallback(TIM_HandleTypeDef *htim)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{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HAL_TIM_PWM_Start_DMA(&amp;htim2, TIM_CHANNEL_1, ssin, 100); 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}</a:t>
            </a:r>
            <a:endParaRPr b="0" lang="ru-RU" sz="1800" spc="-1" strike="noStrike">
              <a:latin typeface="Arial"/>
            </a:endParaRPr>
          </a:p>
        </p:txBody>
      </p:sp>
      <p:pic>
        <p:nvPicPr>
          <p:cNvPr id="135" name="Google Shape;299;p47" descr=""/>
          <p:cNvPicPr/>
          <p:nvPr/>
        </p:nvPicPr>
        <p:blipFill>
          <a:blip r:embed="rId1"/>
          <a:stretch/>
        </p:blipFill>
        <p:spPr>
          <a:xfrm>
            <a:off x="433440" y="4194720"/>
            <a:ext cx="11324520" cy="1028160"/>
          </a:xfrm>
          <a:prstGeom prst="rect">
            <a:avLst/>
          </a:prstGeom>
          <a:ln w="0">
            <a:noFill/>
          </a:ln>
        </p:spPr>
      </p:pic>
      <p:pic>
        <p:nvPicPr>
          <p:cNvPr id="136" name="Google Shape;300;p47" descr=""/>
          <p:cNvPicPr/>
          <p:nvPr/>
        </p:nvPicPr>
        <p:blipFill>
          <a:blip r:embed="rId2"/>
          <a:stretch/>
        </p:blipFill>
        <p:spPr>
          <a:xfrm>
            <a:off x="152280" y="5375880"/>
            <a:ext cx="11886480" cy="90216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306;p48"/>
          <p:cNvSpPr/>
          <p:nvPr/>
        </p:nvSpPr>
        <p:spPr>
          <a:xfrm>
            <a:off x="0" y="2740320"/>
            <a:ext cx="9502560" cy="17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72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ADC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39" name="Google Shape;307;p48" descr=""/>
          <p:cNvPicPr/>
          <p:nvPr/>
        </p:nvPicPr>
        <p:blipFill>
          <a:blip r:embed="rId1">
            <a:alphaModFix amt="60000"/>
          </a:blip>
          <a:stretch/>
        </p:blipFill>
        <p:spPr>
          <a:xfrm>
            <a:off x="10369800" y="330120"/>
            <a:ext cx="1600560" cy="273600"/>
          </a:xfrm>
          <a:prstGeom prst="rect">
            <a:avLst/>
          </a:prstGeom>
          <a:ln w="0">
            <a:noFill/>
          </a:ln>
        </p:spPr>
      </p:pic>
      <p:pic>
        <p:nvPicPr>
          <p:cNvPr id="140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312;p49"/>
          <p:cNvSpPr/>
          <p:nvPr/>
        </p:nvSpPr>
        <p:spPr>
          <a:xfrm>
            <a:off x="1440" y="52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ADC (Настройка)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42" name="Google Shape;314;p49" descr=""/>
          <p:cNvPicPr/>
          <p:nvPr/>
        </p:nvPicPr>
        <p:blipFill>
          <a:blip r:embed="rId1"/>
          <a:stretch/>
        </p:blipFill>
        <p:spPr>
          <a:xfrm>
            <a:off x="2214360" y="1795680"/>
            <a:ext cx="7762320" cy="4456440"/>
          </a:xfrm>
          <a:prstGeom prst="rect">
            <a:avLst/>
          </a:prstGeom>
          <a:ln w="0">
            <a:noFill/>
          </a:ln>
        </p:spPr>
      </p:pic>
      <p:pic>
        <p:nvPicPr>
          <p:cNvPr id="143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319;p50"/>
          <p:cNvSpPr/>
          <p:nvPr/>
        </p:nvSpPr>
        <p:spPr>
          <a:xfrm>
            <a:off x="1440" y="52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ADC (Настройка 2)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45" name="Google Shape;321;p50" descr=""/>
          <p:cNvPicPr/>
          <p:nvPr/>
        </p:nvPicPr>
        <p:blipFill>
          <a:blip r:embed="rId1"/>
          <a:stretch/>
        </p:blipFill>
        <p:spPr>
          <a:xfrm>
            <a:off x="2594880" y="1691640"/>
            <a:ext cx="7001640" cy="4572720"/>
          </a:xfrm>
          <a:prstGeom prst="rect">
            <a:avLst/>
          </a:prstGeom>
          <a:ln w="0">
            <a:noFill/>
          </a:ln>
        </p:spPr>
      </p:pic>
      <p:pic>
        <p:nvPicPr>
          <p:cNvPr id="146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326;p51"/>
          <p:cNvSpPr/>
          <p:nvPr/>
        </p:nvSpPr>
        <p:spPr>
          <a:xfrm>
            <a:off x="1440" y="52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Триггеры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48" name="Google Shape;328;p51" descr=""/>
          <p:cNvPicPr/>
          <p:nvPr/>
        </p:nvPicPr>
        <p:blipFill>
          <a:blip r:embed="rId1"/>
          <a:stretch/>
        </p:blipFill>
        <p:spPr>
          <a:xfrm>
            <a:off x="2008800" y="2001240"/>
            <a:ext cx="8173440" cy="2855160"/>
          </a:xfrm>
          <a:prstGeom prst="rect">
            <a:avLst/>
          </a:prstGeom>
          <a:ln w="0">
            <a:noFill/>
          </a:ln>
        </p:spPr>
      </p:pic>
      <p:pic>
        <p:nvPicPr>
          <p:cNvPr id="149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333;p52"/>
          <p:cNvSpPr/>
          <p:nvPr/>
        </p:nvSpPr>
        <p:spPr>
          <a:xfrm>
            <a:off x="1440" y="52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ADC (Настройка 3)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51" name="Google Shape;335;p52" descr=""/>
          <p:cNvPicPr/>
          <p:nvPr/>
        </p:nvPicPr>
        <p:blipFill>
          <a:blip r:embed="rId1"/>
          <a:stretch/>
        </p:blipFill>
        <p:spPr>
          <a:xfrm>
            <a:off x="843120" y="1630800"/>
            <a:ext cx="6753960" cy="3156120"/>
          </a:xfrm>
          <a:prstGeom prst="rect">
            <a:avLst/>
          </a:prstGeom>
          <a:ln w="0">
            <a:noFill/>
          </a:ln>
        </p:spPr>
      </p:pic>
      <p:pic>
        <p:nvPicPr>
          <p:cNvPr id="152" name="Google Shape;336;p52" descr=""/>
          <p:cNvPicPr/>
          <p:nvPr/>
        </p:nvPicPr>
        <p:blipFill>
          <a:blip r:embed="rId2"/>
          <a:stretch/>
        </p:blipFill>
        <p:spPr>
          <a:xfrm>
            <a:off x="4517280" y="4920480"/>
            <a:ext cx="7288200" cy="1486440"/>
          </a:xfrm>
          <a:prstGeom prst="rect">
            <a:avLst/>
          </a:prstGeom>
          <a:ln w="0">
            <a:noFill/>
          </a:ln>
        </p:spPr>
      </p:pic>
      <p:pic>
        <p:nvPicPr>
          <p:cNvPr id="153" name="" descr=""/>
          <p:cNvPicPr/>
          <p:nvPr/>
        </p:nvPicPr>
        <p:blipFill>
          <a:blip r:embed="rId3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341;p53"/>
          <p:cNvSpPr/>
          <p:nvPr/>
        </p:nvSpPr>
        <p:spPr>
          <a:xfrm>
            <a:off x="1440" y="524880"/>
            <a:ext cx="8698680" cy="11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54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DMA + ADC (Код)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55" name="Google Shape;343;p53" descr=""/>
          <p:cNvPicPr/>
          <p:nvPr/>
        </p:nvPicPr>
        <p:blipFill>
          <a:blip r:embed="rId1"/>
          <a:stretch/>
        </p:blipFill>
        <p:spPr>
          <a:xfrm>
            <a:off x="152280" y="1783440"/>
            <a:ext cx="6123960" cy="904320"/>
          </a:xfrm>
          <a:prstGeom prst="rect">
            <a:avLst/>
          </a:prstGeom>
          <a:ln w="0">
            <a:noFill/>
          </a:ln>
        </p:spPr>
      </p:pic>
      <p:pic>
        <p:nvPicPr>
          <p:cNvPr id="156" name="Google Shape;344;p53" descr=""/>
          <p:cNvPicPr/>
          <p:nvPr/>
        </p:nvPicPr>
        <p:blipFill>
          <a:blip r:embed="rId2"/>
          <a:stretch/>
        </p:blipFill>
        <p:spPr>
          <a:xfrm>
            <a:off x="6716880" y="1324800"/>
            <a:ext cx="5037840" cy="3466440"/>
          </a:xfrm>
          <a:prstGeom prst="rect">
            <a:avLst/>
          </a:prstGeom>
          <a:ln w="0">
            <a:noFill/>
          </a:ln>
        </p:spPr>
      </p:pic>
      <p:pic>
        <p:nvPicPr>
          <p:cNvPr id="157" name="Google Shape;345;p53" descr=""/>
          <p:cNvPicPr/>
          <p:nvPr/>
        </p:nvPicPr>
        <p:blipFill>
          <a:blip r:embed="rId3"/>
          <a:stretch/>
        </p:blipFill>
        <p:spPr>
          <a:xfrm>
            <a:off x="769680" y="3592440"/>
            <a:ext cx="3904560" cy="1018440"/>
          </a:xfrm>
          <a:prstGeom prst="rect">
            <a:avLst/>
          </a:prstGeom>
          <a:ln w="0">
            <a:noFill/>
          </a:ln>
        </p:spPr>
      </p:pic>
      <p:pic>
        <p:nvPicPr>
          <p:cNvPr id="158" name="Google Shape;346;p53" descr=""/>
          <p:cNvPicPr/>
          <p:nvPr/>
        </p:nvPicPr>
        <p:blipFill>
          <a:blip r:embed="rId4"/>
          <a:stretch/>
        </p:blipFill>
        <p:spPr>
          <a:xfrm>
            <a:off x="1143000" y="5347800"/>
            <a:ext cx="4142520" cy="1323360"/>
          </a:xfrm>
          <a:prstGeom prst="rect">
            <a:avLst/>
          </a:prstGeom>
          <a:ln w="0">
            <a:noFill/>
          </a:ln>
        </p:spPr>
      </p:pic>
      <p:pic>
        <p:nvPicPr>
          <p:cNvPr id="159" name="Google Shape;347;p53" descr=""/>
          <p:cNvPicPr/>
          <p:nvPr/>
        </p:nvPicPr>
        <p:blipFill>
          <a:blip r:embed="rId5"/>
          <a:stretch/>
        </p:blipFill>
        <p:spPr>
          <a:xfrm>
            <a:off x="5567040" y="5204880"/>
            <a:ext cx="4209480" cy="1466280"/>
          </a:xfrm>
          <a:prstGeom prst="rect">
            <a:avLst/>
          </a:prstGeom>
          <a:ln w="0">
            <a:noFill/>
          </a:ln>
        </p:spPr>
      </p:pic>
      <p:pic>
        <p:nvPicPr>
          <p:cNvPr id="160" name="" descr=""/>
          <p:cNvPicPr/>
          <p:nvPr/>
        </p:nvPicPr>
        <p:blipFill>
          <a:blip r:embed="rId6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0" y="1220760"/>
            <a:ext cx="7028640" cy="683280"/>
          </a:xfrm>
          <a:prstGeom prst="rect">
            <a:avLst/>
          </a:prstGeom>
          <a:solidFill>
            <a:srgbClr val="e1fff6"/>
          </a:solidFill>
          <a:ln w="0">
            <a:noFill/>
          </a:ln>
        </p:spPr>
        <p:txBody>
          <a:bodyPr anchor="ctr">
            <a:noAutofit/>
          </a:bodyPr>
          <a:p>
            <a:pPr marL="11700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latin typeface="Montserrat Light"/>
                <a:ea typeface="Montserrat Light"/>
              </a:rPr>
              <a:t>ДОМАШНЕЕ ЗАДАНИЕ 1</a:t>
            </a:r>
            <a:endParaRPr b="0" lang="ru-RU" sz="3100" spc="-1" strike="noStrike"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1178640" y="1945080"/>
            <a:ext cx="9190440" cy="4340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232735"/>
                </a:solidFill>
                <a:latin typeface="Montserrat Light"/>
                <a:ea typeface="Montserrat Light"/>
              </a:rPr>
              <a:t>Создайте проект в среде разработки STM32CubeIDE с имеющейся в наличии платой Nucleo. Подключите к отладочной плате светодиод и продемонстрируйте циклическое изменение яркости этого светодиода посредством генерации PWM сигнала переменной скважности. Значения скважности сигнала обновляйте используя DMA из заранее сформированного массива значений. Установите частоту мигания светодиода не более 1-2 Гц.</a:t>
            </a:r>
            <a:endParaRPr b="0" lang="ru-RU" sz="2000" spc="-1" strike="noStrike">
              <a:latin typeface="Arial"/>
            </a:endParaRPr>
          </a:p>
        </p:txBody>
      </p:sp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0" y="1220760"/>
            <a:ext cx="7028640" cy="683280"/>
          </a:xfrm>
          <a:prstGeom prst="rect">
            <a:avLst/>
          </a:prstGeom>
          <a:solidFill>
            <a:srgbClr val="e1fff6"/>
          </a:solidFill>
          <a:ln w="0">
            <a:noFill/>
          </a:ln>
        </p:spPr>
        <p:txBody>
          <a:bodyPr anchor="ctr">
            <a:noAutofit/>
          </a:bodyPr>
          <a:p>
            <a:pPr marL="11700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latin typeface="Montserrat Light"/>
                <a:ea typeface="Montserrat Light"/>
              </a:rPr>
              <a:t>ДОМАШНЕЕ ЗАДАНИЕ 2</a:t>
            </a:r>
            <a:endParaRPr b="0" lang="ru-RU" sz="3100" spc="-1" strike="noStrike"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1178640" y="1945080"/>
            <a:ext cx="9190440" cy="4340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232735"/>
                </a:solidFill>
                <a:latin typeface="Montserrat Light"/>
                <a:ea typeface="Montserrat Light"/>
              </a:rPr>
              <a:t>Создайте проект в среде разработки STM32CubeIDE с имеющейся в наличии платой Nucleo. Подключите к отладочной плате делитель напряжения одним из элементов которого является фоторезистор. При помощи DMA организуйте автоматическую отправку данных об освещенности в массив.</a:t>
            </a:r>
            <a:endParaRPr b="0" lang="ru-RU" sz="2000" spc="-1" strike="noStrike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232735"/>
                </a:solidFill>
                <a:latin typeface="Montserrat Light"/>
                <a:ea typeface="Montserrat Light"/>
              </a:rPr>
              <a:t>Целью домашнего задания является получение учащимся практических навыков работы с DMA. В качестве результата требуется прислать 2 коротких видео демонстрирующих работу созданного кода. </a:t>
            </a:r>
            <a:endParaRPr b="0" lang="ru-RU" sz="2000" spc="-1" strike="noStrike"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22b45"/>
      </a:accent1>
      <a:accent2>
        <a:srgbClr val="cac1ac"/>
      </a:accent2>
      <a:accent3>
        <a:srgbClr val="d9d1ce"/>
      </a:accent3>
      <a:accent4>
        <a:srgbClr val="eff0ed"/>
      </a:accent4>
      <a:accent5>
        <a:srgbClr val="5d6591"/>
      </a:accent5>
      <a:accent6>
        <a:srgbClr val="a69388"/>
      </a:accent6>
      <a:hlink>
        <a:srgbClr val="4b5050"/>
      </a:hlink>
      <a:folHlink>
        <a:srgbClr val="19bb9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22b45"/>
      </a:accent1>
      <a:accent2>
        <a:srgbClr val="cac1ac"/>
      </a:accent2>
      <a:accent3>
        <a:srgbClr val="d9d1ce"/>
      </a:accent3>
      <a:accent4>
        <a:srgbClr val="eff0ed"/>
      </a:accent4>
      <a:accent5>
        <a:srgbClr val="5d6591"/>
      </a:accent5>
      <a:accent6>
        <a:srgbClr val="a69388"/>
      </a:accent6>
      <a:hlink>
        <a:srgbClr val="4b5050"/>
      </a:hlink>
      <a:folHlink>
        <a:srgbClr val="19bb9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Application>LibreOffice/7.3.0.3$Windows_X86_64 LibreOffice_project/0f246aa12d0eee4a0f7adcefbf7c878fc2238db3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2024-05-28T00:17:04Z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