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_rels/notesSlide10.xml.rels" ContentType="application/vnd.openxmlformats-package.relationships+xml"/>
  <Override PartName="/ppt/notesSlides/_rels/notesSlide2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Click to move the slide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Click to edit the notes format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&lt;header&gt;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&lt;date/time&gt;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&lt;footer&gt;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078E0CD-ED31-42B1-84FB-CD4AFC8EFB52}" type="slidenum">
              <a:rPr b="0" lang="ru-RU" sz="1400" spc="-1" strike="noStrike">
                <a:latin typeface="Times New Roman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4F2627A-BD77-4EFF-B272-7D869A7A7C38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757C001-40FC-45F7-9135-6E94B36953E3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4ECFC00-17EF-46D1-9E40-FA0F45157D1F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BF60DA7-9ED9-4498-8D71-C0C273B2E7E8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81766AC-986A-4040-A3A6-5FB45EF773E3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6EE1F1A-6A76-4BCC-8B18-4C1E2077972B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23E6EF7-7B93-411D-ACC5-ECB5162E9FEC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EB176F7-D69C-4E8B-8F8B-00BA8075CD74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50832EB-2CC0-4AEF-9570-D1E1A0380341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D6EFB92-DA86-4E46-9B69-620505D2FD6F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6D43D90-7705-439F-99D2-32AB0F7894E5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EF6CBA2-3A29-4AF9-BA05-7BB580B993A9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1B2743B-1F21-4059-8474-C74D241D8DBB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4045D40-590F-4E5B-A83F-3AA32FAE3401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2B24E0C-BC92-4FED-A6B8-8D759F3313CB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56BCE65-9E88-443D-AF82-FABBF9525E73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4CE821A-A9CC-493D-90F2-743EC6A5E494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D8C6B7E-9083-4A8B-8C34-524FD264ECEA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Click to edit the title text format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99;p21"/>
          <p:cNvSpPr/>
          <p:nvPr/>
        </p:nvSpPr>
        <p:spPr>
          <a:xfrm>
            <a:off x="225360" y="2024280"/>
            <a:ext cx="7045560" cy="22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2700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4700" spc="-1" strike="noStrike">
                <a:solidFill>
                  <a:srgbClr val="666666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Режимы энергопотребления</a:t>
            </a:r>
            <a:endParaRPr b="0" lang="ru-RU" sz="4700" spc="-1" strike="noStrike">
              <a:latin typeface="Arial"/>
            </a:endParaRPr>
          </a:p>
        </p:txBody>
      </p:sp>
      <p:sp>
        <p:nvSpPr>
          <p:cNvPr id="45" name="Google Shape;101;p21"/>
          <p:cNvSpPr/>
          <p:nvPr/>
        </p:nvSpPr>
        <p:spPr>
          <a:xfrm>
            <a:off x="540000" y="5948640"/>
            <a:ext cx="6130080" cy="5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42000"/>
              </a:lnSpc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ExtraLight"/>
                <a:ea typeface="IBM Plex Sans ExtraLight"/>
              </a:rPr>
              <a:t>Микроконтроллеры STM32 / 6 занятие</a:t>
            </a:r>
            <a:endParaRPr b="0" lang="ru-RU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/>
          </p:nvPr>
        </p:nvSpPr>
        <p:spPr>
          <a:xfrm>
            <a:off x="485280" y="539280"/>
            <a:ext cx="11220480" cy="57790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В ЭТОМ УРОКЕ</a:t>
            </a:r>
            <a:endParaRPr b="0" lang="ru-RU" sz="3100" spc="-1" strike="noStrike">
              <a:latin typeface="Arial"/>
            </a:endParaRPr>
          </a:p>
          <a:p>
            <a:pPr marL="144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1440000" indent="-583200">
              <a:lnSpc>
                <a:spcPct val="142000"/>
              </a:lnSpc>
              <a:spcBef>
                <a:spcPts val="1001"/>
              </a:spcBef>
              <a:buClr>
                <a:srgbClr val="aaaaaa"/>
              </a:buClr>
              <a:buFont typeface="IBM Plex Sans Thin"/>
              <a:buChar char="➔"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ExtraLight"/>
                <a:ea typeface="IBM Plex Sans ExtraLight"/>
              </a:rPr>
              <a:t>Режимы энергопотребления</a:t>
            </a:r>
            <a:endParaRPr b="0" lang="ru-RU" sz="1900" spc="-1" strike="noStrike">
              <a:latin typeface="Arial"/>
            </a:endParaRPr>
          </a:p>
          <a:p>
            <a:pPr marL="1440000" indent="-583200">
              <a:lnSpc>
                <a:spcPct val="142000"/>
              </a:lnSpc>
              <a:spcBef>
                <a:spcPts val="1001"/>
              </a:spcBef>
              <a:buClr>
                <a:srgbClr val="aaaaaa"/>
              </a:buClr>
              <a:buFont typeface="IBM Plex Sans Thin"/>
              <a:buChar char="➔"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ExtraLight"/>
                <a:ea typeface="IBM Plex Sans ExtraLight"/>
              </a:rPr>
              <a:t>Переходы между режимами</a:t>
            </a:r>
            <a:endParaRPr b="0" lang="ru-RU" sz="1900" spc="-1" strike="noStrike">
              <a:latin typeface="Arial"/>
            </a:endParaRPr>
          </a:p>
          <a:p>
            <a:pPr marL="1440000" indent="-583200">
              <a:lnSpc>
                <a:spcPct val="142000"/>
              </a:lnSpc>
              <a:spcBef>
                <a:spcPts val="1001"/>
              </a:spcBef>
              <a:buClr>
                <a:srgbClr val="aaaaaa"/>
              </a:buClr>
              <a:buFont typeface="IBM Plex Sans Thin"/>
              <a:buChar char="➔"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ExtraLight"/>
                <a:ea typeface="IBM Plex Sans ExtraLight"/>
              </a:rPr>
              <a:t>BOR и Power-On-Reset</a:t>
            </a:r>
            <a:endParaRPr b="0" lang="ru-RU" sz="1900" spc="-1" strike="noStrike"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115;p23"/>
          <p:cNvSpPr/>
          <p:nvPr/>
        </p:nvSpPr>
        <p:spPr>
          <a:xfrm>
            <a:off x="0" y="2740320"/>
            <a:ext cx="9502560" cy="17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72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Что значит управлять энергопотреблением?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49" name="Google Shape;116;p23" descr=""/>
          <p:cNvPicPr/>
          <p:nvPr/>
        </p:nvPicPr>
        <p:blipFill>
          <a:blip r:embed="rId1">
            <a:alphaModFix amt="60000"/>
          </a:blip>
          <a:stretch/>
        </p:blipFill>
        <p:spPr>
          <a:xfrm>
            <a:off x="10369800" y="330120"/>
            <a:ext cx="1600560" cy="273600"/>
          </a:xfrm>
          <a:prstGeom prst="rect">
            <a:avLst/>
          </a:prstGeom>
          <a:ln w="0">
            <a:noFill/>
          </a:ln>
        </p:spPr>
      </p:pic>
      <p:pic>
        <p:nvPicPr>
          <p:cNvPr id="50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/>
          </p:nvPr>
        </p:nvSpPr>
        <p:spPr>
          <a:xfrm>
            <a:off x="526680" y="1260000"/>
            <a:ext cx="11739960" cy="4139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Энергоэффективность</a:t>
            </a:r>
            <a:endParaRPr b="0" lang="ru-RU" sz="3100" spc="-1" strike="noStrike">
              <a:latin typeface="Arial"/>
            </a:endParaRPr>
          </a:p>
          <a:p>
            <a:pPr marL="144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1620000" indent="-482760">
              <a:lnSpc>
                <a:spcPct val="120000"/>
              </a:lnSpc>
              <a:spcBef>
                <a:spcPts val="1001"/>
              </a:spcBef>
              <a:buClr>
                <a:srgbClr val="9e9e9e"/>
              </a:buClr>
              <a:buFont typeface="IBM Plex Sans Light"/>
              <a:buChar char="➔"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Приводит к снижению тепловыделения устройства</a:t>
            </a:r>
            <a:endParaRPr b="0" lang="ru-RU" sz="2200" spc="-1" strike="noStrike">
              <a:latin typeface="Arial"/>
            </a:endParaRPr>
          </a:p>
          <a:p>
            <a:pPr marL="1620000" indent="-480600">
              <a:lnSpc>
                <a:spcPct val="120000"/>
              </a:lnSpc>
              <a:spcBef>
                <a:spcPts val="1001"/>
              </a:spcBef>
              <a:buClr>
                <a:srgbClr val="9e9e9e"/>
              </a:buClr>
              <a:buFont typeface="IBM Plex Sans Light"/>
              <a:buChar char="➔"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Увеличивает время автономной работы</a:t>
            </a:r>
            <a:endParaRPr b="0" lang="ru-RU" sz="2200" spc="-1" strike="noStrike">
              <a:latin typeface="Arial"/>
            </a:endParaRPr>
          </a:p>
          <a:p>
            <a:pPr marL="1620000" indent="-480600">
              <a:lnSpc>
                <a:spcPct val="120000"/>
              </a:lnSpc>
              <a:spcBef>
                <a:spcPts val="1001"/>
              </a:spcBef>
              <a:buClr>
                <a:srgbClr val="9e9e9e"/>
              </a:buClr>
              <a:buFont typeface="IBM Plex Sans Light"/>
              <a:buChar char="➔"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Уменьшаются габариты устройств</a:t>
            </a:r>
            <a:endParaRPr b="0" lang="ru-RU" sz="2200" spc="-1" strike="noStrike">
              <a:latin typeface="Arial"/>
            </a:endParaRPr>
          </a:p>
          <a:p>
            <a:pPr marL="1620000" indent="-480600">
              <a:lnSpc>
                <a:spcPct val="120000"/>
              </a:lnSpc>
              <a:spcBef>
                <a:spcPts val="1001"/>
              </a:spcBef>
              <a:buClr>
                <a:srgbClr val="9e9e9e"/>
              </a:buClr>
              <a:buFont typeface="IBM Plex Sans Light"/>
              <a:buChar char="➔"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Повышается безопасность</a:t>
            </a:r>
            <a:endParaRPr b="0" lang="ru-RU" sz="2200" spc="-1" strike="noStrike">
              <a:latin typeface="Arial"/>
            </a:endParaRPr>
          </a:p>
          <a:p>
            <a:pPr marL="1620000" indent="-480600">
              <a:lnSpc>
                <a:spcPct val="120000"/>
              </a:lnSpc>
              <a:spcBef>
                <a:spcPts val="1001"/>
              </a:spcBef>
              <a:buClr>
                <a:srgbClr val="9e9e9e"/>
              </a:buClr>
              <a:buFont typeface="IBM Plex Sans Light"/>
              <a:buChar char="➔"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Облегчается сертификация</a:t>
            </a:r>
            <a:endParaRPr b="0" lang="ru-RU" sz="2200" spc="-1" strike="noStrike"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/>
          </p:nvPr>
        </p:nvSpPr>
        <p:spPr>
          <a:xfrm>
            <a:off x="526680" y="1440000"/>
            <a:ext cx="11739960" cy="453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Тактирование</a:t>
            </a:r>
            <a:endParaRPr b="0" lang="ru-RU" sz="3100" spc="-1" strike="noStrike">
              <a:latin typeface="Arial"/>
            </a:endParaRPr>
          </a:p>
          <a:p>
            <a:pPr marL="144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__HAL__RCC_&lt;PPP&gt;_CLK_DISABLE(); 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&lt;PPP&gt; - необходимый блок периферии.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__HAL_RCC_DMA1_CLK_DISABLE();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__HAL_RCC_DMA1_CLK_ENABLE();</a:t>
            </a:r>
            <a:endParaRPr b="0" lang="ru-RU" sz="2200" spc="-1" strike="noStrike">
              <a:latin typeface="Arial"/>
            </a:endParaRPr>
          </a:p>
        </p:txBody>
      </p:sp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137;p26"/>
          <p:cNvSpPr/>
          <p:nvPr/>
        </p:nvSpPr>
        <p:spPr>
          <a:xfrm>
            <a:off x="1440" y="524880"/>
            <a:ext cx="8698680" cy="88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Различные подходы</a:t>
            </a:r>
            <a:endParaRPr b="0" lang="ru-RU" sz="3100" spc="-1" strike="noStrike"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/>
          </p:nvPr>
        </p:nvSpPr>
        <p:spPr>
          <a:xfrm>
            <a:off x="753120" y="1258200"/>
            <a:ext cx="9788400" cy="1073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232735"/>
                </a:solidFill>
                <a:latin typeface="IBM Plex Sans Light"/>
                <a:ea typeface="IBM Plex Sans Light"/>
              </a:rPr>
              <a:t>Одна из возможных стратегий</a:t>
            </a:r>
            <a:endParaRPr b="0" lang="ru-RU" sz="1900" spc="-1" strike="noStrike">
              <a:latin typeface="Arial"/>
            </a:endParaRPr>
          </a:p>
        </p:txBody>
      </p:sp>
      <p:pic>
        <p:nvPicPr>
          <p:cNvPr id="57" name="Google Shape;140;p26" descr=""/>
          <p:cNvPicPr/>
          <p:nvPr/>
        </p:nvPicPr>
        <p:blipFill>
          <a:blip r:embed="rId1"/>
          <a:stretch/>
        </p:blipFill>
        <p:spPr>
          <a:xfrm>
            <a:off x="2678760" y="2198880"/>
            <a:ext cx="6833880" cy="3813120"/>
          </a:xfrm>
          <a:prstGeom prst="rect">
            <a:avLst/>
          </a:prstGeom>
          <a:ln w="0">
            <a:noFill/>
          </a:ln>
        </p:spPr>
      </p:pic>
      <p:pic>
        <p:nvPicPr>
          <p:cNvPr id="58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/>
          </p:nvPr>
        </p:nvSpPr>
        <p:spPr>
          <a:xfrm>
            <a:off x="526680" y="1620000"/>
            <a:ext cx="11172960" cy="435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Классический пример</a:t>
            </a: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{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  </a:t>
            </a:r>
            <a:r>
              <a:rPr b="1" lang="ru-RU" sz="22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HAL_GPIO_TogglePin(LD2_GPIO_Port, LD2_Pin);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  </a:t>
            </a:r>
            <a:r>
              <a:rPr b="1" lang="ru-RU" sz="22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HAL_Delay(500);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}</a:t>
            </a:r>
            <a:endParaRPr b="0" lang="ru-RU" sz="2200" spc="-1" strike="noStrike">
              <a:latin typeface="Arial"/>
            </a:endParaRPr>
          </a:p>
        </p:txBody>
      </p:sp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56;p28"/>
          <p:cNvSpPr/>
          <p:nvPr/>
        </p:nvSpPr>
        <p:spPr>
          <a:xfrm>
            <a:off x="0" y="1780200"/>
            <a:ext cx="12191400" cy="5077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4572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532600" y="1569600"/>
            <a:ext cx="6844680" cy="175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Вход/выход в спящий режим</a:t>
            </a:r>
            <a:endParaRPr b="0" lang="ru-RU" sz="3100" spc="-1" strike="noStrike">
              <a:latin typeface="Arial"/>
            </a:endParaRPr>
          </a:p>
        </p:txBody>
      </p:sp>
      <p:graphicFrame>
        <p:nvGraphicFramePr>
          <p:cNvPr id="63" name="Google Shape;160;p28"/>
          <p:cNvGraphicFramePr/>
          <p:nvPr/>
        </p:nvGraphicFramePr>
        <p:xfrm>
          <a:off x="620280" y="3511800"/>
          <a:ext cx="11038680" cy="761400"/>
        </p:xfrm>
        <a:graphic>
          <a:graphicData uri="http://schemas.openxmlformats.org/drawingml/2006/table">
            <a:tbl>
              <a:tblPr/>
              <a:tblGrid>
                <a:gridCol w="5519520"/>
                <a:gridCol w="5519520"/>
              </a:tblGrid>
              <a:tr h="380880"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2500" spc="-1" strike="noStrike">
                          <a:solidFill>
                            <a:srgbClr val="434343"/>
                          </a:solidFill>
                          <a:latin typeface="IBM Plex Sans Light"/>
                          <a:ea typeface="IBM Plex Sans Light"/>
                        </a:rPr>
                        <a:t>WFI</a:t>
                      </a:r>
                      <a:endParaRPr b="0" lang="ru-RU" sz="25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2500" spc="-1" strike="noStrike">
                          <a:solidFill>
                            <a:srgbClr val="434343"/>
                          </a:solidFill>
                          <a:latin typeface="IBM Plex Sans Light"/>
                          <a:ea typeface="IBM Plex Sans Light"/>
                        </a:rPr>
                        <a:t>Wait For Interrupt</a:t>
                      </a:r>
                      <a:endParaRPr b="0" lang="ru-RU" sz="2500" spc="-1" strike="noStrike"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efefef"/>
                      </a:solidFill>
                    </a:lnL>
                    <a:lnR w="9360">
                      <a:solidFill>
                        <a:srgbClr val="efefef"/>
                      </a:solidFill>
                    </a:lnR>
                    <a:lnT w="9360">
                      <a:solidFill>
                        <a:srgbClr val="efefef"/>
                      </a:solidFill>
                    </a:lnT>
                    <a:lnB w="9360">
                      <a:solidFill>
                        <a:srgbClr val="efefef"/>
                      </a:solidFill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2500" spc="-1" strike="noStrike">
                          <a:solidFill>
                            <a:srgbClr val="434343"/>
                          </a:solidFill>
                          <a:latin typeface="IBM Plex Sans Light"/>
                          <a:ea typeface="IBM Plex Sans Light"/>
                        </a:rPr>
                        <a:t>WFE </a:t>
                      </a:r>
                      <a:endParaRPr b="0" lang="ru-RU" sz="25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2500" spc="-1" strike="noStrike">
                          <a:solidFill>
                            <a:srgbClr val="434343"/>
                          </a:solidFill>
                          <a:latin typeface="IBM Plex Sans Light"/>
                          <a:ea typeface="IBM Plex Sans Light"/>
                        </a:rPr>
                        <a:t>Wait For Event</a:t>
                      </a:r>
                      <a:endParaRPr b="0" lang="ru-RU" sz="2500" spc="-1" strike="noStrike"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efefef"/>
                      </a:solidFill>
                    </a:lnL>
                    <a:lnR w="9360">
                      <a:solidFill>
                        <a:srgbClr val="efefef"/>
                      </a:solidFill>
                    </a:lnR>
                    <a:lnT w="9360">
                      <a:solidFill>
                        <a:srgbClr val="efefef"/>
                      </a:solidFill>
                    </a:lnT>
                    <a:lnB w="9360">
                      <a:solidFill>
                        <a:srgbClr val="efefef"/>
                      </a:solidFill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2500" spc="-1" strike="noStrike">
                          <a:solidFill>
                            <a:srgbClr val="434343"/>
                          </a:solidFill>
                          <a:latin typeface="IBM Plex Sans Light"/>
                          <a:ea typeface="IBM Plex Sans Light"/>
                        </a:rPr>
                        <a:t>GPIO_MODE_IT_ *</a:t>
                      </a:r>
                      <a:endParaRPr b="0" lang="ru-RU" sz="2500" spc="-1" strike="noStrike"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efefef"/>
                      </a:solidFill>
                    </a:lnL>
                    <a:lnR w="9360">
                      <a:solidFill>
                        <a:srgbClr val="efefef"/>
                      </a:solidFill>
                    </a:lnR>
                    <a:lnT w="9360">
                      <a:solidFill>
                        <a:srgbClr val="efefef"/>
                      </a:solidFill>
                    </a:lnT>
                    <a:lnB w="9360">
                      <a:solidFill>
                        <a:srgbClr val="efefef"/>
                      </a:solidFill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2500" spc="-1" strike="noStrike">
                          <a:solidFill>
                            <a:srgbClr val="434343"/>
                          </a:solidFill>
                          <a:latin typeface="IBM Plex Sans Light"/>
                          <a:ea typeface="IBM Plex Sans Light"/>
                        </a:rPr>
                        <a:t>GPIO_MODE_EVT_ *</a:t>
                      </a:r>
                      <a:endParaRPr b="0" lang="ru-RU" sz="2500" spc="-1" strike="noStrike"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efefef"/>
                      </a:solidFill>
                    </a:lnL>
                    <a:lnR w="9360">
                      <a:solidFill>
                        <a:srgbClr val="efefef"/>
                      </a:solidFill>
                    </a:lnR>
                    <a:lnT w="9360">
                      <a:solidFill>
                        <a:srgbClr val="efefef"/>
                      </a:solidFill>
                    </a:lnT>
                    <a:lnB w="9360">
                      <a:solidFill>
                        <a:srgbClr val="efefef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167;p29"/>
          <p:cNvSpPr/>
          <p:nvPr/>
        </p:nvSpPr>
        <p:spPr>
          <a:xfrm>
            <a:off x="4864680" y="1440000"/>
            <a:ext cx="7326720" cy="4139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1260000" indent="-368280">
              <a:lnSpc>
                <a:spcPct val="100000"/>
              </a:lnSpc>
              <a:spcBef>
                <a:spcPts val="1001"/>
              </a:spcBef>
              <a:buClr>
                <a:srgbClr val="aaaaaa"/>
              </a:buClr>
              <a:buFont typeface="IBM Plex Sans"/>
              <a:buAutoNum type="arabicPeriod"/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Включение / отключение битом в регистре SCB-&gt;SCR</a:t>
            </a:r>
            <a:endParaRPr b="0" lang="ru-RU" sz="2200" spc="-1" strike="noStrike">
              <a:latin typeface="Arial"/>
            </a:endParaRPr>
          </a:p>
          <a:p>
            <a:pPr marL="1260000" indent="-368280">
              <a:lnSpc>
                <a:spcPct val="100000"/>
              </a:lnSpc>
              <a:spcBef>
                <a:spcPts val="1001"/>
              </a:spcBef>
              <a:buClr>
                <a:srgbClr val="aaaaaa"/>
              </a:buClr>
              <a:buFont typeface="IBM Plex Sans"/>
              <a:buAutoNum type="arabicPeriod" startAt="2"/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HAL_PWR_EnableSleepOnExit() и HAL_PWR_DisableSleepOnExit()</a:t>
            </a:r>
            <a:endParaRPr b="0" lang="ru-RU" sz="2200" spc="-1" strike="noStrike">
              <a:latin typeface="Arial"/>
            </a:endParaRPr>
          </a:p>
          <a:p>
            <a:pPr marL="1260000" indent="-368280">
              <a:lnSpc>
                <a:spcPct val="100000"/>
              </a:lnSpc>
              <a:spcBef>
                <a:spcPts val="1001"/>
              </a:spcBef>
              <a:buClr>
                <a:srgbClr val="aaaaaa"/>
              </a:buClr>
              <a:buFont typeface="IBM Plex Sans"/>
              <a:buAutoNum type="arabicPeriod" startAt="3"/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Включать после окончания инициализации.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53400" y="2121840"/>
            <a:ext cx="4074840" cy="175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Sleep On Exit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/>
          </p:nvPr>
        </p:nvSpPr>
        <p:spPr>
          <a:xfrm>
            <a:off x="485280" y="1171800"/>
            <a:ext cx="11220480" cy="828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18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Режимы сна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69" name="Google Shape;181;p30" descr=""/>
          <p:cNvPicPr/>
          <p:nvPr/>
        </p:nvPicPr>
        <p:blipFill>
          <a:blip r:embed="rId1"/>
          <a:stretch/>
        </p:blipFill>
        <p:spPr>
          <a:xfrm>
            <a:off x="700200" y="2052720"/>
            <a:ext cx="10791000" cy="3513960"/>
          </a:xfrm>
          <a:prstGeom prst="rect">
            <a:avLst/>
          </a:prstGeom>
          <a:ln w="0">
            <a:noFill/>
          </a:ln>
        </p:spPr>
      </p:pic>
      <p:pic>
        <p:nvPicPr>
          <p:cNvPr id="70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485280" y="2804400"/>
            <a:ext cx="11220480" cy="828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18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Источники питания </a:t>
            </a:r>
            <a:endParaRPr b="0" lang="ru-RU" sz="3100" spc="-1" strike="noStrike">
              <a:latin typeface="Arial"/>
            </a:endParaRPr>
          </a:p>
          <a:p>
            <a:pPr marL="18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микроконтроллера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72" name="Google Shape;190;p31" descr=""/>
          <p:cNvPicPr/>
          <p:nvPr/>
        </p:nvPicPr>
        <p:blipFill>
          <a:blip r:embed="rId1"/>
          <a:stretch/>
        </p:blipFill>
        <p:spPr>
          <a:xfrm>
            <a:off x="5815440" y="1080000"/>
            <a:ext cx="3611520" cy="5344560"/>
          </a:xfrm>
          <a:prstGeom prst="rect">
            <a:avLst/>
          </a:prstGeom>
          <a:ln w="0">
            <a:noFill/>
          </a:ln>
        </p:spPr>
      </p:pic>
      <p:pic>
        <p:nvPicPr>
          <p:cNvPr id="73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/>
          </p:nvPr>
        </p:nvSpPr>
        <p:spPr>
          <a:xfrm>
            <a:off x="119160" y="1440000"/>
            <a:ext cx="11220480" cy="828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18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Режим RUN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75" name="Google Shape;199;p32" descr=""/>
          <p:cNvPicPr/>
          <p:nvPr/>
        </p:nvPicPr>
        <p:blipFill>
          <a:blip r:embed="rId1"/>
          <a:stretch/>
        </p:blipFill>
        <p:spPr>
          <a:xfrm>
            <a:off x="2610360" y="1800000"/>
            <a:ext cx="7349040" cy="4490640"/>
          </a:xfrm>
          <a:prstGeom prst="rect">
            <a:avLst/>
          </a:prstGeom>
          <a:ln w="0">
            <a:noFill/>
          </a:ln>
        </p:spPr>
      </p:pic>
      <p:pic>
        <p:nvPicPr>
          <p:cNvPr id="76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/>
          </p:nvPr>
        </p:nvSpPr>
        <p:spPr>
          <a:xfrm>
            <a:off x="319680" y="1940040"/>
            <a:ext cx="11739960" cy="453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Динамическое масштабирование напряжения STM32F4 / STM32F7</a:t>
            </a: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1" lang="ru-RU" sz="19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HAL_StatusTypeDef HAL_PWREx_ControlVoltageScaling(uint32_t VoltageScaling);</a:t>
            </a:r>
            <a:endParaRPr b="0" lang="ru-RU" sz="19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19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1" lang="ru-RU" sz="19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PWR_REGULATOR_VOLTAGE_SCALE1,</a:t>
            </a:r>
            <a:endParaRPr b="0" lang="ru-RU" sz="19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1" lang="ru-RU" sz="19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PWR_REGULATOR_VOLTAGE_SCALE2,</a:t>
            </a:r>
            <a:endParaRPr b="0" lang="ru-RU" sz="19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1" lang="ru-RU" sz="19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PWR_REGULATOR_VOLTAGE_SCALE3</a:t>
            </a:r>
            <a:endParaRPr b="0" lang="ru-RU" sz="19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19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   </a:t>
            </a:r>
            <a:r>
              <a:rPr b="0" lang="ru-RU" sz="18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1. Установите HSI или HSE в качестве источника системной тактовой частоты, используя функцию HAL_RCC_ClockConfig();</a:t>
            </a:r>
            <a:endParaRPr b="0" lang="ru-RU" sz="1800" spc="-1" strike="noStrike">
              <a:latin typeface="Arial"/>
            </a:endParaRPr>
          </a:p>
          <a:p>
            <a:pPr marL="630000" indent="144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2. Настройте PLL вызвав функцию HAL_RCC_OscConfig();</a:t>
            </a:r>
            <a:endParaRPr b="0" lang="ru-RU" sz="18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3. Вызовите функцию HAL_PWREx_ConfigVoltageScaling() и установите желаемый уровень напряжения;</a:t>
            </a:r>
            <a:endParaRPr b="0" lang="ru-RU" sz="18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4. Установите новую системную тактовую частоту HAL_RCC_ClockConfig();</a:t>
            </a:r>
            <a:endParaRPr b="0" lang="ru-RU" sz="1800" spc="-1" strike="noStrike"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/>
          </p:nvPr>
        </p:nvSpPr>
        <p:spPr>
          <a:xfrm>
            <a:off x="180000" y="1440000"/>
            <a:ext cx="11739960" cy="471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Режим Over/Under-Drive в микроконтроллерах STM32F4/F7</a:t>
            </a: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1" lang="ru-RU" sz="27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HAL_PWREx_EnableOverDrive();</a:t>
            </a:r>
            <a:endParaRPr b="0" lang="ru-RU" sz="27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7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1" lang="ru-RU" sz="27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HAL_PWREx_DisableOverDrive();</a:t>
            </a:r>
            <a:endParaRPr b="0" lang="ru-RU" sz="27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7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700" spc="-1" strike="noStrike"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/>
          </p:nvPr>
        </p:nvSpPr>
        <p:spPr>
          <a:xfrm>
            <a:off x="319680" y="1440000"/>
            <a:ext cx="11739960" cy="453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Режим Sleep</a:t>
            </a: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1" lang="ru-RU" sz="23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void HAL_PWR_EnterSLEEPMode(uint32_t Regulator, uint8_t SLEEPEntry);</a:t>
            </a:r>
            <a:endParaRPr b="0" lang="ru-RU" sz="23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3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300" spc="-1" strike="noStrike"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/>
          </p:nvPr>
        </p:nvSpPr>
        <p:spPr>
          <a:xfrm>
            <a:off x="526680" y="1080000"/>
            <a:ext cx="11172960" cy="489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Режим Stop</a:t>
            </a: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1" lang="ru-RU" sz="23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void HAL_PWR_EnterSTOPMode(uint32_t Regulator, uint8_t STOPEntry);</a:t>
            </a:r>
            <a:endParaRPr b="0" lang="ru-RU" sz="2300" spc="-1" strike="noStrike"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180000" y="1260000"/>
            <a:ext cx="11739960" cy="471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Режим Standby</a:t>
            </a: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1" lang="ru-RU" sz="23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void HAL_PWR_EnterSTANDBYMode(void);</a:t>
            </a:r>
            <a:endParaRPr b="0" lang="ru-RU" sz="23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3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3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3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3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1" lang="ru-RU" sz="23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__HAL_PWR_GET_FLAG(PWR_FLAG_SB);</a:t>
            </a:r>
            <a:endParaRPr b="0" lang="ru-RU" sz="2300" spc="-1" strike="noStrike"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245;p38"/>
          <p:cNvSpPr/>
          <p:nvPr/>
        </p:nvSpPr>
        <p:spPr>
          <a:xfrm>
            <a:off x="0" y="2740320"/>
            <a:ext cx="8299080" cy="17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72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Инспекторы (супервайзеры) питания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88" name="Google Shape;246;p38" descr=""/>
          <p:cNvPicPr/>
          <p:nvPr/>
        </p:nvPicPr>
        <p:blipFill>
          <a:blip r:embed="rId1">
            <a:alphaModFix amt="60000"/>
          </a:blip>
          <a:stretch/>
        </p:blipFill>
        <p:spPr>
          <a:xfrm>
            <a:off x="10369800" y="330120"/>
            <a:ext cx="1600560" cy="273600"/>
          </a:xfrm>
          <a:prstGeom prst="rect">
            <a:avLst/>
          </a:prstGeom>
          <a:ln w="0">
            <a:noFill/>
          </a:ln>
        </p:spPr>
      </p:pic>
      <p:pic>
        <p:nvPicPr>
          <p:cNvPr id="89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/>
          </p:nvPr>
        </p:nvSpPr>
        <p:spPr>
          <a:xfrm>
            <a:off x="180000" y="1620000"/>
            <a:ext cx="11220480" cy="828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18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BOR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91" name="Google Shape;255;p39" descr=""/>
          <p:cNvPicPr/>
          <p:nvPr/>
        </p:nvPicPr>
        <p:blipFill>
          <a:blip r:embed="rId1"/>
          <a:stretch/>
        </p:blipFill>
        <p:spPr>
          <a:xfrm>
            <a:off x="2520000" y="1980000"/>
            <a:ext cx="6885720" cy="4285440"/>
          </a:xfrm>
          <a:prstGeom prst="rect">
            <a:avLst/>
          </a:prstGeom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/>
          </p:nvPr>
        </p:nvSpPr>
        <p:spPr>
          <a:xfrm>
            <a:off x="180000" y="1980000"/>
            <a:ext cx="11220480" cy="828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18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PWD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94" name="Google Shape;264;p40" descr=""/>
          <p:cNvPicPr/>
          <p:nvPr/>
        </p:nvPicPr>
        <p:blipFill>
          <a:blip r:embed="rId1"/>
          <a:stretch/>
        </p:blipFill>
        <p:spPr>
          <a:xfrm>
            <a:off x="2638440" y="2098800"/>
            <a:ext cx="6914520" cy="4380840"/>
          </a:xfrm>
          <a:prstGeom prst="rect">
            <a:avLst/>
          </a:prstGeom>
          <a:ln w="0">
            <a:noFill/>
          </a:ln>
        </p:spPr>
      </p:pic>
      <p:pic>
        <p:nvPicPr>
          <p:cNvPr id="95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/>
          </p:nvPr>
        </p:nvSpPr>
        <p:spPr>
          <a:xfrm>
            <a:off x="180000" y="1151280"/>
            <a:ext cx="11220480" cy="828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18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PWD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97" name="Google Shape;273;p41" descr=""/>
          <p:cNvPicPr/>
          <p:nvPr/>
        </p:nvPicPr>
        <p:blipFill>
          <a:blip r:embed="rId1"/>
          <a:stretch/>
        </p:blipFill>
        <p:spPr>
          <a:xfrm>
            <a:off x="3983760" y="1444320"/>
            <a:ext cx="3755880" cy="5035320"/>
          </a:xfrm>
          <a:prstGeom prst="rect">
            <a:avLst/>
          </a:prstGeom>
          <a:ln w="0">
            <a:noFill/>
          </a:ln>
        </p:spPr>
      </p:pic>
      <p:pic>
        <p:nvPicPr>
          <p:cNvPr id="98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/>
          </p:nvPr>
        </p:nvSpPr>
        <p:spPr>
          <a:xfrm>
            <a:off x="360000" y="1331280"/>
            <a:ext cx="11220480" cy="828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18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PWD</a:t>
            </a:r>
            <a:endParaRPr b="0" lang="ru-RU" sz="3100" spc="-1" strike="noStrike">
              <a:latin typeface="Arial"/>
            </a:endParaRPr>
          </a:p>
        </p:txBody>
      </p:sp>
      <p:sp>
        <p:nvSpPr>
          <p:cNvPr id="100" name="Google Shape;282;p42"/>
          <p:cNvSpPr/>
          <p:nvPr/>
        </p:nvSpPr>
        <p:spPr>
          <a:xfrm>
            <a:off x="572040" y="2395080"/>
            <a:ext cx="4778640" cy="328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Lato"/>
                <a:ea typeface="Lato"/>
              </a:rPr>
              <a:t>/*!&lt; PVD level configuration */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Lato"/>
                <a:ea typeface="Lato"/>
              </a:rPr>
              <a:t>#define PWR_CR_PLS_LEV0     0x00000000U     /*!&lt; PVD level 0 */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Lato"/>
                <a:ea typeface="Lato"/>
              </a:rPr>
              <a:t>#define PWR_CR_PLS_LEV1     0x00000020U     /*!&lt; PVD level 1 */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Lato"/>
                <a:ea typeface="Lato"/>
              </a:rPr>
              <a:t>#define PWR_CR_PLS_LEV2     0x00000040U     /*!&lt; PVD level 2 */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Lato"/>
                <a:ea typeface="Lato"/>
              </a:rPr>
              <a:t>#define PWR_CR_PLS_LEV3     0x00000060U     /*!&lt; PVD level 3 */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Lato"/>
                <a:ea typeface="Lato"/>
              </a:rPr>
              <a:t>#define PWR_CR_PLS_LEV4     0x00000080U     /*!&lt; PVD level 4 */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Lato"/>
                <a:ea typeface="Lato"/>
              </a:rPr>
              <a:t>#define PWR_CR_PLS_LEV5     0x000000A0U     /*!&lt; PVD level 5 */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Lato"/>
                <a:ea typeface="Lato"/>
              </a:rPr>
              <a:t>#define PWR_CR_PLS_LEV6     0x000000C0U     /*!&lt; PVD level 6 */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Lato"/>
                <a:ea typeface="Lato"/>
              </a:rPr>
              <a:t>#define PWR_CR_PLS_LEV7     0x000000E0U     /*!&lt; PVD level 7 */</a:t>
            </a:r>
            <a:endParaRPr b="0" lang="ru-RU" sz="1200" spc="-1" strike="noStrike">
              <a:latin typeface="Arial"/>
            </a:endParaRPr>
          </a:p>
        </p:txBody>
      </p:sp>
      <p:sp>
        <p:nvSpPr>
          <p:cNvPr id="101" name="Google Shape;283;p42"/>
          <p:cNvSpPr/>
          <p:nvPr/>
        </p:nvSpPr>
        <p:spPr>
          <a:xfrm>
            <a:off x="5686200" y="1315080"/>
            <a:ext cx="5756760" cy="48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int main(void)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{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  </a:t>
            </a: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HAL_Init();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  </a:t>
            </a: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SystemClock_Config();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  </a:t>
            </a: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MX_GPIO_Init();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	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  </a:t>
            </a: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PWR_PVDTypeDef sConfigPVD;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  </a:t>
            </a: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HAL_NVIC_SetPriority(PVD_IRQn, 0, 0);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  </a:t>
            </a: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HAL_NVIC_EnableIRQ(PVD_IRQn);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  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  </a:t>
            </a: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sConfigPVD.PVDLevel = PWR_CR_PLS_LEV7;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  </a:t>
            </a: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sConfigPVD.Mode = PWR_PVD_MODE_IT_RISING_FALLING;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  </a:t>
            </a: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HAL_PWR_ConfigPVD(&amp;sConfigPVD);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  </a:t>
            </a: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HAL_PWR_EnablePVD();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	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  </a:t>
            </a: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while (1)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  </a:t>
            </a: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{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    </a:t>
            </a: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HAL_Delay(1);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  </a:t>
            </a: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}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Lato"/>
                <a:ea typeface="Lato"/>
              </a:rPr>
              <a:t>}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02" name="Google Shape;284;p42"/>
          <p:cNvSpPr/>
          <p:nvPr/>
        </p:nvSpPr>
        <p:spPr>
          <a:xfrm>
            <a:off x="540360" y="5218200"/>
            <a:ext cx="471744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pc="-1" strike="noStrike">
                <a:solidFill>
                  <a:srgbClr val="000000"/>
                </a:solidFill>
                <a:latin typeface="Lato"/>
                <a:ea typeface="Lato"/>
              </a:rPr>
              <a:t>void HAL_PWR_PVDCallback(void)</a:t>
            </a:r>
            <a:endParaRPr b="0" lang="ru-RU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pc="-1" strike="noStrike">
                <a:solidFill>
                  <a:srgbClr val="000000"/>
                </a:solidFill>
                <a:latin typeface="Lato"/>
                <a:ea typeface="Lato"/>
              </a:rPr>
              <a:t>{</a:t>
            </a:r>
            <a:endParaRPr b="0" lang="ru-RU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pc="-1" strike="noStrike">
                <a:solidFill>
                  <a:srgbClr val="000000"/>
                </a:solidFill>
                <a:latin typeface="Lato"/>
                <a:ea typeface="Lato"/>
              </a:rPr>
              <a:t>  </a:t>
            </a:r>
            <a:r>
              <a:rPr b="0" lang="ru-RU" sz="1500" spc="-1" strike="noStrike">
                <a:solidFill>
                  <a:srgbClr val="000000"/>
                </a:solidFill>
                <a:latin typeface="Lato"/>
                <a:ea typeface="Lato"/>
              </a:rPr>
              <a:t>HAL_GPIO_TogglePin(LED_GPIO_Port, LED_Pin);</a:t>
            </a:r>
            <a:endParaRPr b="0" lang="ru-RU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pc="-1" strike="noStrike">
                <a:solidFill>
                  <a:srgbClr val="000000"/>
                </a:solidFill>
                <a:latin typeface="Lato"/>
                <a:ea typeface="Lato"/>
              </a:rPr>
              <a:t>}</a:t>
            </a:r>
            <a:endParaRPr b="0" lang="ru-RU" sz="1500" spc="-1" strike="noStrike"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0" y="1440000"/>
            <a:ext cx="6217920" cy="683280"/>
          </a:xfrm>
          <a:prstGeom prst="rect">
            <a:avLst/>
          </a:prstGeom>
          <a:solidFill>
            <a:srgbClr val="e1fff6"/>
          </a:solidFill>
          <a:ln w="0">
            <a:noFill/>
          </a:ln>
        </p:spPr>
        <p:txBody>
          <a:bodyPr anchor="ctr">
            <a:noAutofit/>
          </a:bodyPr>
          <a:p>
            <a:pPr marL="11700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latin typeface="Montserrat Light"/>
                <a:ea typeface="Montserrat Light"/>
              </a:rPr>
              <a:t>ДОМАШНЕЕ ЗАДАНИЕ</a:t>
            </a:r>
            <a:endParaRPr b="0" lang="ru-RU" sz="31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1080000" y="2679120"/>
            <a:ext cx="9571680" cy="3440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232735"/>
                </a:solidFill>
                <a:latin typeface="IBM Plex Sans Light"/>
                <a:ea typeface="IBM Plex Sans Light"/>
              </a:rPr>
              <a:t>Создайте проект в среде разработки STM32CubeIDE с имеющейся в наличии платой Nucleo. Продемонстрируйте переход микроконтроллера в режим сна и последующий выход (продолжение работы) в качестве события используя нажатие на кнопку, либо событие таймера. </a:t>
            </a:r>
            <a:endParaRPr b="0" lang="ru-RU" sz="2000" spc="-1" strike="noStrike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232735"/>
                </a:solidFill>
                <a:latin typeface="IBM Plex Sans Light"/>
                <a:ea typeface="IBM Plex Sans Light"/>
              </a:rPr>
              <a:t>Целью домашнего задания является закрепление знаний полученных в ходе вебинара и получение учащимися практического опыта перевода микроконтроллеров в режим с пониженным энергопотреблением. В качестве результата работы представьте файл main.c созданного вами проекта. Кратко опишите достигнутые результаты.</a:t>
            </a:r>
            <a:endParaRPr b="0" lang="ru-RU" sz="2000" spc="-1" strike="noStrike"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22b45"/>
      </a:accent1>
      <a:accent2>
        <a:srgbClr val="cac1ac"/>
      </a:accent2>
      <a:accent3>
        <a:srgbClr val="d9d1ce"/>
      </a:accent3>
      <a:accent4>
        <a:srgbClr val="eff0ed"/>
      </a:accent4>
      <a:accent5>
        <a:srgbClr val="5d6591"/>
      </a:accent5>
      <a:accent6>
        <a:srgbClr val="a69388"/>
      </a:accent6>
      <a:hlink>
        <a:srgbClr val="4b5050"/>
      </a:hlink>
      <a:folHlink>
        <a:srgbClr val="19bb9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22b45"/>
      </a:accent1>
      <a:accent2>
        <a:srgbClr val="cac1ac"/>
      </a:accent2>
      <a:accent3>
        <a:srgbClr val="d9d1ce"/>
      </a:accent3>
      <a:accent4>
        <a:srgbClr val="eff0ed"/>
      </a:accent4>
      <a:accent5>
        <a:srgbClr val="5d6591"/>
      </a:accent5>
      <a:accent6>
        <a:srgbClr val="a69388"/>
      </a:accent6>
      <a:hlink>
        <a:srgbClr val="4b5050"/>
      </a:hlink>
      <a:folHlink>
        <a:srgbClr val="19bb9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LibreOffice/7.3.0.3$Windows_X86_64 LibreOffice_project/0f246aa12d0eee4a0f7adcefbf7c878fc2238db3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2024-05-27T23:47:15Z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