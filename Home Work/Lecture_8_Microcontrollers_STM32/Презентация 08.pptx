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_rels/notesSlide10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23.jpeg" ContentType="image/jpe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jpeg" ContentType="image/jpe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Click to move the slide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2000" spc="-1" strike="noStrike">
                <a:latin typeface="Arial"/>
              </a:rPr>
              <a:t>Click to edit the notes format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ru-RU" sz="1400" spc="-1" strike="noStrike">
                <a:latin typeface="Times New Roman"/>
              </a:rPr>
              <a:t>&lt;header&gt;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ru-RU" sz="1400" spc="-1" strike="noStrike">
                <a:latin typeface="Times New Roman"/>
              </a:rPr>
              <a:t>&lt;date/time&gt;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&lt;footer&gt;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ru-RU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8064BBF-FF8F-4376-9AB1-6F5A2FB139F9}" type="slidenum">
              <a:rPr b="0" lang="ru-RU" sz="1400" spc="-1" strike="noStrike">
                <a:latin typeface="Times New Roman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F6F6148-A1EE-49E8-B83D-7DB64C929640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CB595A0-3934-4302-A1B0-62ECD8CEACF0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4666B78-F5CC-428B-8B59-394D2CE784FE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6F49049-CDB5-453D-8037-29354C06329D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AE1DF0E-8DAD-44F1-940C-56539A22BF55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DA2F2FD-4C94-4BB1-87B5-CDBF44177471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39141F6-A1E4-42CF-AD62-8D4F7ADF6327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27210BE-C863-41E0-89AB-29C6AD19655F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C5BE812-6028-4576-AAAB-CE578DEE0A36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6C54882-260D-4D74-B06A-C35188B60AB8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58173DB-0F5E-4221-89C3-D663F559F2B2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30FA4DC-E6B6-4C60-B614-DC38FF2D117C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2FCBA2C-D0E2-4D3E-B79E-16C106BBF3C1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B15C0A9-7E8E-454D-9EA2-9483911AEDAF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C148972-9DA2-4954-9E83-76535367F515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FD0C6A4-D67B-4835-99C9-B1D3F3BE0FC9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63BAFA6-33FF-4878-9F88-E9E61487E888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369D229-B383-4CB9-8A4F-8FCD101DD048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8DEF743-5D61-4A87-A771-706CDE8432BA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D42A82D-BE4C-47D0-90DB-D20DE95D46B7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FB29F41-5D4C-4A77-AAD4-1F6DFEC057D0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047C728-CB9D-49D4-80E0-BAD3D786A117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DA3572D-1722-4571-B71C-1A71BFF9B5A5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D06D8933-B19C-4BC4-9D07-4A648539004A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381960" y="685800"/>
            <a:ext cx="6093360" cy="342828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ru-RU" sz="2000" spc="-1" strike="noStrike"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3857BA4-2D5D-456B-9CC1-80A0B210C79C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Click to edit the title text format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Click to edit the outline text format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Second Outline Level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Third Outline Level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Fourth Outline Level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Fifth Outline Level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Sixth Outline Level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Seventh Outline Level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image" Target="../media/image23.jpe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96;p20"/>
          <p:cNvSpPr/>
          <p:nvPr/>
        </p:nvSpPr>
        <p:spPr>
          <a:xfrm>
            <a:off x="225360" y="2024280"/>
            <a:ext cx="7045560" cy="22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2700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5100" spc="-1" strike="noStrike">
                <a:solidFill>
                  <a:srgbClr val="666666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CRC, RNG, HASH, CRYP</a:t>
            </a:r>
            <a:endParaRPr b="0" lang="ru-RU" sz="5100" spc="-1" strike="noStrike">
              <a:latin typeface="Arial"/>
            </a:endParaRPr>
          </a:p>
        </p:txBody>
      </p:sp>
      <p:sp>
        <p:nvSpPr>
          <p:cNvPr id="45" name="Google Shape;98;p20"/>
          <p:cNvSpPr/>
          <p:nvPr/>
        </p:nvSpPr>
        <p:spPr>
          <a:xfrm>
            <a:off x="720000" y="5948640"/>
            <a:ext cx="5950080" cy="5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42000"/>
              </a:lnSpc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ExtraLight"/>
                <a:ea typeface="IBM Plex Sans ExtraLight"/>
              </a:rPr>
              <a:t>Микроконтроллеры STM32 / 8 занятие</a:t>
            </a:r>
            <a:endParaRPr b="0" lang="ru-RU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/>
          </p:nvPr>
        </p:nvSpPr>
        <p:spPr>
          <a:xfrm>
            <a:off x="485280" y="539280"/>
            <a:ext cx="11220480" cy="57790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В ЭТОМ УРОКЕ</a:t>
            </a:r>
            <a:endParaRPr b="0" lang="ru-RU" sz="3100" spc="-1" strike="noStrike">
              <a:latin typeface="Arial"/>
            </a:endParaRPr>
          </a:p>
          <a:p>
            <a:pPr marL="144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1440000" indent="-583200">
              <a:lnSpc>
                <a:spcPct val="142000"/>
              </a:lnSpc>
              <a:spcBef>
                <a:spcPts val="1001"/>
              </a:spcBef>
              <a:buClr>
                <a:srgbClr val="aaaaaa"/>
              </a:buClr>
              <a:buFont typeface="IBM Plex Sans Thin"/>
              <a:buChar char="➔"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ExtraLight"/>
                <a:ea typeface="IBM Plex Sans ExtraLight"/>
              </a:rPr>
              <a:t>Блок вычисления контрольной суммы</a:t>
            </a:r>
            <a:endParaRPr b="0" lang="ru-RU" sz="1900" spc="-1" strike="noStrike">
              <a:latin typeface="Arial"/>
            </a:endParaRPr>
          </a:p>
          <a:p>
            <a:pPr marL="1440000" indent="-583200">
              <a:lnSpc>
                <a:spcPct val="142000"/>
              </a:lnSpc>
              <a:spcBef>
                <a:spcPts val="1001"/>
              </a:spcBef>
              <a:buClr>
                <a:srgbClr val="aaaaaa"/>
              </a:buClr>
              <a:buFont typeface="IBM Plex Sans Thin"/>
              <a:buChar char="➔"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ExtraLight"/>
                <a:ea typeface="IBM Plex Sans ExtraLight"/>
              </a:rPr>
              <a:t>Генератор случайных чисел</a:t>
            </a:r>
            <a:endParaRPr b="0" lang="ru-RU" sz="1900" spc="-1" strike="noStrike">
              <a:latin typeface="Arial"/>
            </a:endParaRPr>
          </a:p>
          <a:p>
            <a:pPr marL="1440000" indent="-583200">
              <a:lnSpc>
                <a:spcPct val="142000"/>
              </a:lnSpc>
              <a:spcBef>
                <a:spcPts val="1001"/>
              </a:spcBef>
              <a:buClr>
                <a:srgbClr val="aaaaaa"/>
              </a:buClr>
              <a:buFont typeface="IBM Plex Sans Thin"/>
              <a:buChar char="➔"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ExtraLight"/>
                <a:ea typeface="IBM Plex Sans ExtraLight"/>
              </a:rPr>
              <a:t>Вычисление HASH</a:t>
            </a:r>
            <a:endParaRPr b="0" lang="ru-RU" sz="1900" spc="-1" strike="noStrike">
              <a:latin typeface="Arial"/>
            </a:endParaRPr>
          </a:p>
          <a:p>
            <a:pPr marL="1440000" indent="-570600">
              <a:lnSpc>
                <a:spcPct val="142000"/>
              </a:lnSpc>
              <a:spcBef>
                <a:spcPts val="1001"/>
              </a:spcBef>
              <a:buClr>
                <a:srgbClr val="aaaaaa"/>
              </a:buClr>
              <a:buFont typeface="IBM Plex Sans ExtraLight"/>
              <a:buChar char="➔"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ExtraLight"/>
                <a:ea typeface="IBM Plex Sans ExtraLight"/>
              </a:rPr>
              <a:t>Аппаратное шифрование</a:t>
            </a:r>
            <a:endParaRPr b="0" lang="ru-RU" sz="1900" spc="-1" strike="noStrike"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112;p22"/>
          <p:cNvSpPr/>
          <p:nvPr/>
        </p:nvSpPr>
        <p:spPr>
          <a:xfrm>
            <a:off x="0" y="2740320"/>
            <a:ext cx="9502560" cy="17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72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CRC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49" name="Google Shape;113;p22" descr=""/>
          <p:cNvPicPr/>
          <p:nvPr/>
        </p:nvPicPr>
        <p:blipFill>
          <a:blip r:embed="rId1">
            <a:alphaModFix amt="60000"/>
          </a:blip>
          <a:stretch/>
        </p:blipFill>
        <p:spPr>
          <a:xfrm>
            <a:off x="10369800" y="330120"/>
            <a:ext cx="1600560" cy="273600"/>
          </a:xfrm>
          <a:prstGeom prst="rect">
            <a:avLst/>
          </a:prstGeom>
          <a:ln w="0">
            <a:noFill/>
          </a:ln>
        </p:spPr>
      </p:pic>
      <p:pic>
        <p:nvPicPr>
          <p:cNvPr id="50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/>
          </p:nvPr>
        </p:nvSpPr>
        <p:spPr>
          <a:xfrm>
            <a:off x="499680" y="1080000"/>
            <a:ext cx="11739960" cy="1970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CRC</a:t>
            </a:r>
            <a:endParaRPr b="0" lang="ru-RU" sz="3100" spc="-1" strike="noStrike">
              <a:latin typeface="Arial"/>
            </a:endParaRPr>
          </a:p>
          <a:p>
            <a:pPr marL="144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Циклический избыточный код. Служит для контроля целостности данных и как подтверждение отсутствия ошибок.</a:t>
            </a:r>
            <a:endParaRPr b="0" lang="ru-RU" sz="2200" spc="-1" strike="noStrike">
              <a:latin typeface="Arial"/>
            </a:endParaRPr>
          </a:p>
        </p:txBody>
      </p:sp>
      <p:graphicFrame>
        <p:nvGraphicFramePr>
          <p:cNvPr id="52" name="Google Shape;122;p23"/>
          <p:cNvGraphicFramePr/>
          <p:nvPr/>
        </p:nvGraphicFramePr>
        <p:xfrm>
          <a:off x="1276200" y="3092760"/>
          <a:ext cx="10286280" cy="2665800"/>
        </p:xfrm>
        <a:graphic>
          <a:graphicData uri="http://schemas.openxmlformats.org/drawingml/2006/table">
            <a:tbl>
              <a:tblPr/>
              <a:tblGrid>
                <a:gridCol w="5143320"/>
                <a:gridCol w="5143320"/>
              </a:tblGrid>
              <a:tr h="380880"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Алгоритм</a:t>
                      </a:r>
                      <a:endParaRPr b="0" lang="ru-RU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Многочлен</a:t>
                      </a:r>
                      <a:endParaRPr b="0" lang="ru-RU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CRC-16</a:t>
                      </a:r>
                      <a:endParaRPr b="0" lang="ru-RU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0x8005</a:t>
                      </a:r>
                      <a:endParaRPr b="0" lang="ru-RU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CRC-16-CCITT</a:t>
                      </a:r>
                      <a:endParaRPr b="0" lang="ru-RU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0x1021</a:t>
                      </a:r>
                      <a:endParaRPr b="0" lang="ru-RU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CRC-16-DNP</a:t>
                      </a:r>
                      <a:endParaRPr b="0" lang="ru-RU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0x3D65</a:t>
                      </a:r>
                      <a:endParaRPr b="0" lang="ru-RU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CRC-32-IEEE 802.3</a:t>
                      </a:r>
                      <a:endParaRPr b="0" lang="ru-RU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0x04C11DB7</a:t>
                      </a:r>
                      <a:endParaRPr b="0" lang="ru-RU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CRC-32C</a:t>
                      </a:r>
                      <a:endParaRPr b="0" lang="ru-RU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0x1EDC6F41</a:t>
                      </a:r>
                      <a:endParaRPr b="0" lang="ru-RU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80880"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CRC-32K</a:t>
                      </a:r>
                      <a:endParaRPr b="0" lang="ru-RU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ru-RU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0x741B8CD7</a:t>
                      </a:r>
                      <a:endParaRPr b="0" lang="ru-RU" sz="1400" spc="-1" strike="noStrike"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/>
          </p:nvPr>
        </p:nvSpPr>
        <p:spPr>
          <a:xfrm>
            <a:off x="526680" y="1260000"/>
            <a:ext cx="11297160" cy="52030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CRC</a:t>
            </a:r>
            <a:endParaRPr b="0" lang="ru-RU" sz="3100" spc="-1" strike="noStrike">
              <a:latin typeface="Arial"/>
            </a:endParaRPr>
          </a:p>
          <a:p>
            <a:pPr marL="144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Итого мы должны определить 6 основных параметров влияющих и определяющих CRC сообщения: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</a:t>
            </a:r>
            <a:r>
              <a:rPr b="0" lang="ru-RU" sz="21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</a:t>
            </a:r>
            <a:r>
              <a:rPr b="0" lang="ru-RU" sz="19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1. порядок CRC;</a:t>
            </a:r>
            <a:endParaRPr b="0" lang="ru-RU" sz="19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9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2. образующий многочлен (его иногда называют «генераторный полином», переводя с английского буквально);</a:t>
            </a:r>
            <a:endParaRPr b="0" lang="ru-RU" sz="19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9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3. начальное содержимое регистра;</a:t>
            </a:r>
            <a:endParaRPr b="0" lang="ru-RU" sz="19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9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4. значение, с которым производится финальное XOR;</a:t>
            </a:r>
            <a:endParaRPr b="0" lang="ru-RU" sz="19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9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5. реверс байтов информационного сообщения;</a:t>
            </a:r>
            <a:endParaRPr b="0" lang="ru-RU" sz="19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9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6. реверс байтов CRC перед финальным XOR.</a:t>
            </a:r>
            <a:endParaRPr b="0" lang="ru-RU" sz="1900" spc="-1" strike="noStrike"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/>
          </p:nvPr>
        </p:nvSpPr>
        <p:spPr>
          <a:xfrm>
            <a:off x="540000" y="1280520"/>
            <a:ext cx="11297160" cy="15991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CRC STM32</a:t>
            </a:r>
            <a:endParaRPr b="0" lang="ru-RU" sz="3100" spc="-1" strike="noStrike">
              <a:latin typeface="Arial"/>
            </a:endParaRPr>
          </a:p>
          <a:p>
            <a:pPr marL="144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Блок схема</a:t>
            </a:r>
            <a:endParaRPr b="0" lang="ru-RU" sz="2200" spc="-1" strike="noStrike">
              <a:latin typeface="Arial"/>
            </a:endParaRPr>
          </a:p>
        </p:txBody>
      </p:sp>
      <p:pic>
        <p:nvPicPr>
          <p:cNvPr id="57" name="Google Shape;139;p25" descr=""/>
          <p:cNvPicPr/>
          <p:nvPr/>
        </p:nvPicPr>
        <p:blipFill>
          <a:blip r:embed="rId1"/>
          <a:srcRect l="1233" t="3801" r="927" b="2187"/>
          <a:stretch/>
        </p:blipFill>
        <p:spPr>
          <a:xfrm>
            <a:off x="1973880" y="2602800"/>
            <a:ext cx="7939440" cy="3187080"/>
          </a:xfrm>
          <a:prstGeom prst="rect">
            <a:avLst/>
          </a:prstGeom>
          <a:ln w="0">
            <a:noFill/>
          </a:ln>
        </p:spPr>
      </p:pic>
      <p:pic>
        <p:nvPicPr>
          <p:cNvPr id="58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/>
          </p:nvPr>
        </p:nvSpPr>
        <p:spPr>
          <a:xfrm>
            <a:off x="526680" y="1044000"/>
            <a:ext cx="11297160" cy="55630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CRC STM32</a:t>
            </a:r>
            <a:endParaRPr b="0" lang="ru-RU" sz="3100" spc="-1" strike="noStrike">
              <a:latin typeface="Arial"/>
            </a:endParaRPr>
          </a:p>
          <a:p>
            <a:pPr marL="144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Для вычисления CRC при помощи аппаратного блока необходимо выполнить следующие действия: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7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7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1. Включить тактирование блока CRC;</a:t>
            </a:r>
            <a:endParaRPr b="0" lang="ru-RU" sz="17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7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7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2. Установить начальное значение CRC установив значение в регистре CRC_INIT.</a:t>
            </a:r>
            <a:endParaRPr b="0" lang="ru-RU" sz="17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7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7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3. Установить биты REV_IN[1:0] и REV_OUT в регистре CRC_CR.</a:t>
            </a:r>
            <a:endParaRPr b="0" lang="ru-RU" sz="17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7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7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4. Установить биты POLYSIZE[1:0] определяющие размер полинома в регистрах CRC_CR и CRC_POL.</a:t>
            </a:r>
            <a:endParaRPr b="0" lang="ru-RU" sz="17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7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7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5. Сбросить периферию установив Reset бит в регистре CRC_CR.</a:t>
            </a:r>
            <a:endParaRPr b="0" lang="ru-RU" sz="17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7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7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6. Последовательно поместить данные в регистр данных.</a:t>
            </a:r>
            <a:endParaRPr b="0" lang="ru-RU" sz="17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7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7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7. Прочитать вычисленное значение CRC.</a:t>
            </a:r>
            <a:endParaRPr b="0" lang="ru-RU" sz="17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7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7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8. Отключить тактирование.</a:t>
            </a:r>
            <a:endParaRPr b="0" lang="ru-RU" sz="1700" spc="-1" strike="noStrike">
              <a:latin typeface="Arial"/>
            </a:endParaRPr>
          </a:p>
        </p:txBody>
      </p:sp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/>
          </p:nvPr>
        </p:nvSpPr>
        <p:spPr>
          <a:xfrm>
            <a:off x="526680" y="1512000"/>
            <a:ext cx="11297160" cy="44830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Практическое использование</a:t>
            </a: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Структура библиотеки HAL для настройки модуля CRC: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typedef struct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{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</a:t>
            </a: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uint8_t DefaultPolynomialUse;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</a:t>
            </a: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uint8_t DefaultInitValueUse;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</a:t>
            </a: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uint32_t GeneratingPolynomial; 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</a:t>
            </a: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uint32_t CRCLength;                 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</a:t>
            </a: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uint32_t InitValue;                 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</a:t>
            </a: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uint32_t InputDataInversionMode;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</a:t>
            </a: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uint32_t OutputDataInversionMode;  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} CRC_InitTypeDef;</a:t>
            </a:r>
            <a:endParaRPr b="0" lang="ru-RU" sz="2200" spc="-1" strike="noStrike"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/>
          </p:nvPr>
        </p:nvSpPr>
        <p:spPr>
          <a:xfrm>
            <a:off x="526680" y="1116000"/>
            <a:ext cx="11297160" cy="50230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Практическое использование</a:t>
            </a: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Функции и макросы: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  <a:p>
            <a:pPr marL="630000" indent="-18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__HAL_RCC_CRC_CLK_ENABLE();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  <a:p>
            <a:pPr marL="630000" indent="-18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HAL_StatusTypeDef HAL_CRC_Init(CRC_HandleTypeDef *hcrc)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  <a:p>
            <a:pPr marL="45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uint32_t HAL_CRC_Accumulate(CRC_HandleTypeDef *hcrc, uint32_t pBuffer[], uint32_t BufferLength)</a:t>
            </a:r>
            <a:endParaRPr b="0" lang="ru-RU" sz="1800" spc="-1" strike="noStrike"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/>
          </p:nvPr>
        </p:nvSpPr>
        <p:spPr>
          <a:xfrm>
            <a:off x="526680" y="1260000"/>
            <a:ext cx="11297160" cy="1335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CRC Доступность</a:t>
            </a:r>
            <a:endParaRPr b="0" lang="ru-RU" sz="31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</p:txBody>
      </p:sp>
      <p:pic>
        <p:nvPicPr>
          <p:cNvPr id="66" name="Google Shape;172;p29" descr=""/>
          <p:cNvPicPr/>
          <p:nvPr/>
        </p:nvPicPr>
        <p:blipFill>
          <a:blip r:embed="rId1"/>
          <a:srcRect l="0" t="1828" r="0" b="0"/>
          <a:stretch/>
        </p:blipFill>
        <p:spPr>
          <a:xfrm>
            <a:off x="1671480" y="2105640"/>
            <a:ext cx="8492040" cy="4083480"/>
          </a:xfrm>
          <a:prstGeom prst="rect">
            <a:avLst/>
          </a:prstGeom>
          <a:ln w="0">
            <a:noFill/>
          </a:ln>
        </p:spPr>
      </p:pic>
      <p:pic>
        <p:nvPicPr>
          <p:cNvPr id="67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/>
          </p:nvPr>
        </p:nvSpPr>
        <p:spPr>
          <a:xfrm>
            <a:off x="526680" y="1332000"/>
            <a:ext cx="11297160" cy="1109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CRC + DMA</a:t>
            </a:r>
            <a:endParaRPr b="0" lang="ru-RU" sz="31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</p:txBody>
      </p:sp>
      <p:pic>
        <p:nvPicPr>
          <p:cNvPr id="69" name="Google Shape;181;p30" descr=""/>
          <p:cNvPicPr/>
          <p:nvPr/>
        </p:nvPicPr>
        <p:blipFill>
          <a:blip r:embed="rId1"/>
          <a:srcRect l="909" t="2816" r="1205" b="1780"/>
          <a:stretch/>
        </p:blipFill>
        <p:spPr>
          <a:xfrm>
            <a:off x="2047320" y="1871640"/>
            <a:ext cx="8231760" cy="4444560"/>
          </a:xfrm>
          <a:prstGeom prst="rect">
            <a:avLst/>
          </a:prstGeom>
          <a:ln w="0">
            <a:noFill/>
          </a:ln>
        </p:spPr>
      </p:pic>
      <p:pic>
        <p:nvPicPr>
          <p:cNvPr id="70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187;p31"/>
          <p:cNvSpPr/>
          <p:nvPr/>
        </p:nvSpPr>
        <p:spPr>
          <a:xfrm>
            <a:off x="0" y="2740320"/>
            <a:ext cx="9502560" cy="17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72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RNG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72" name="Google Shape;188;p31" descr=""/>
          <p:cNvPicPr/>
          <p:nvPr/>
        </p:nvPicPr>
        <p:blipFill>
          <a:blip r:embed="rId1">
            <a:alphaModFix amt="60000"/>
          </a:blip>
          <a:stretch/>
        </p:blipFill>
        <p:spPr>
          <a:xfrm>
            <a:off x="10369800" y="330120"/>
            <a:ext cx="1600560" cy="273600"/>
          </a:xfrm>
          <a:prstGeom prst="rect">
            <a:avLst/>
          </a:prstGeom>
          <a:ln w="0">
            <a:noFill/>
          </a:ln>
        </p:spPr>
      </p:pic>
      <p:pic>
        <p:nvPicPr>
          <p:cNvPr id="73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/>
          </p:nvPr>
        </p:nvSpPr>
        <p:spPr>
          <a:xfrm>
            <a:off x="310680" y="1476000"/>
            <a:ext cx="11739960" cy="363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Генератор случайных чисел</a:t>
            </a:r>
            <a:endParaRPr b="0" lang="ru-RU" sz="3100" spc="-1" strike="noStrike">
              <a:latin typeface="Arial"/>
            </a:endParaRPr>
          </a:p>
          <a:p>
            <a:pPr marL="144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1620000" indent="-482760">
              <a:lnSpc>
                <a:spcPct val="120000"/>
              </a:lnSpc>
              <a:spcBef>
                <a:spcPts val="1001"/>
              </a:spcBef>
              <a:buClr>
                <a:srgbClr val="9e9e9e"/>
              </a:buClr>
              <a:buFont typeface="IBM Plex Sans Light"/>
              <a:buChar char="➔"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Где используются генераторы случайных чисел</a:t>
            </a:r>
            <a:endParaRPr b="0" lang="ru-RU" sz="2200" spc="-1" strike="noStrike">
              <a:latin typeface="Arial"/>
            </a:endParaRPr>
          </a:p>
          <a:p>
            <a:pPr marL="1620000" indent="-482760">
              <a:lnSpc>
                <a:spcPct val="120000"/>
              </a:lnSpc>
              <a:spcBef>
                <a:spcPts val="1001"/>
              </a:spcBef>
              <a:buClr>
                <a:srgbClr val="9e9e9e"/>
              </a:buClr>
              <a:buFont typeface="IBM Plex Sans Light"/>
              <a:buChar char="➔"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Физические явления как источник энтропии</a:t>
            </a:r>
            <a:endParaRPr b="0" lang="ru-RU" sz="2200" spc="-1" strike="noStrike">
              <a:latin typeface="Arial"/>
            </a:endParaRPr>
          </a:p>
          <a:p>
            <a:pPr marL="1620000" indent="-482760">
              <a:lnSpc>
                <a:spcPct val="120000"/>
              </a:lnSpc>
              <a:spcBef>
                <a:spcPts val="1001"/>
              </a:spcBef>
              <a:buClr>
                <a:srgbClr val="9e9e9e"/>
              </a:buClr>
              <a:buFont typeface="IBM Plex Sans Light"/>
              <a:buChar char="➔"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ГСЧ микроконтроллеров STM32</a:t>
            </a:r>
            <a:endParaRPr b="0" lang="ru-RU" sz="2200" spc="-1" strike="noStrike"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202;p33"/>
          <p:cNvSpPr/>
          <p:nvPr/>
        </p:nvSpPr>
        <p:spPr>
          <a:xfrm>
            <a:off x="6005520" y="1368000"/>
            <a:ext cx="6185880" cy="2651760"/>
          </a:xfrm>
          <a:prstGeom prst="rect">
            <a:avLst/>
          </a:prstGeom>
          <a:solidFill>
            <a:srgbClr val="e1ff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810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Формирует слово каждые 42 цикла</a:t>
            </a:r>
            <a:endParaRPr b="0" lang="ru-RU" sz="1900" spc="-1" strike="noStrike"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/>
          </p:nvPr>
        </p:nvSpPr>
        <p:spPr>
          <a:xfrm>
            <a:off x="0" y="1440000"/>
            <a:ext cx="6004800" cy="5417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Преимущества ГСЧ STM32</a:t>
            </a:r>
            <a:endParaRPr b="0" lang="ru-RU" sz="3100" spc="-1" strike="noStrike">
              <a:latin typeface="Arial"/>
            </a:endParaRPr>
          </a:p>
        </p:txBody>
      </p:sp>
      <p:sp>
        <p:nvSpPr>
          <p:cNvPr id="78" name="Google Shape;205;p33"/>
          <p:cNvSpPr/>
          <p:nvPr/>
        </p:nvSpPr>
        <p:spPr>
          <a:xfrm>
            <a:off x="6005520" y="4140000"/>
            <a:ext cx="6185880" cy="271728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810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Можно отключить для снижения энергопотребления</a:t>
            </a:r>
            <a:endParaRPr b="0" lang="ru-RU" sz="1900" spc="-1" strike="noStrike"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/>
          </p:nvPr>
        </p:nvSpPr>
        <p:spPr>
          <a:xfrm>
            <a:off x="526680" y="1080000"/>
            <a:ext cx="11297160" cy="1469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ГСЧ Блок схема</a:t>
            </a:r>
            <a:endParaRPr b="0" lang="ru-RU" sz="31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</p:txBody>
      </p:sp>
      <p:pic>
        <p:nvPicPr>
          <p:cNvPr id="81" name="Google Shape;214;p34" descr=""/>
          <p:cNvPicPr/>
          <p:nvPr/>
        </p:nvPicPr>
        <p:blipFill>
          <a:blip r:embed="rId1"/>
          <a:stretch/>
        </p:blipFill>
        <p:spPr>
          <a:xfrm>
            <a:off x="2520000" y="1904760"/>
            <a:ext cx="6825240" cy="4853880"/>
          </a:xfrm>
          <a:prstGeom prst="rect">
            <a:avLst/>
          </a:prstGeom>
          <a:ln w="0">
            <a:noFill/>
          </a:ln>
        </p:spPr>
      </p:pic>
      <p:pic>
        <p:nvPicPr>
          <p:cNvPr id="82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/>
          </p:nvPr>
        </p:nvSpPr>
        <p:spPr>
          <a:xfrm>
            <a:off x="526680" y="1260000"/>
            <a:ext cx="11297160" cy="52030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Практическое использование</a:t>
            </a: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Функции библиотеки HAL для настройки модуля RNG: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/* Функции инициализации и деинициализации  *****************/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HAL_StatusTypeDef HAL_RNG_Init(RNG_HandleTypeDef *hrng);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HAL_StatusTypeDef HAL_RNG_DeInit (RNG_HandleTypeDef *hrng);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void HAL_RNG_MspInit(RNG_HandleTypeDef *hrng);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void HAL_RNG_MspDeInit(RNG_HandleTypeDef *hrng);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/* Функции управления периферией   ****************************/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uint32_t HAL_RNG_GetRandomNumber(RNG_HandleTypeDef *hrng);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uint32_t HAL_RNG_GetRandomNumber_IT(RNG_HandleTypeDef *hrng);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void HAL_RNG_IRQHandler(RNG_HandleTypeDef *hrng);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void HAL_RNG_ReadyCallback(RNG_HandleTypeDef* hrng);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void HAL_RNG_ErrorCallback(RNG_HandleTypeDef *hrng);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/* Функция статуса периферии  **********************************/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HAL_RNG_StateTypeDef HAL_RNG_GetState(RNG_HandleTypeDef *hrng);</a:t>
            </a:r>
            <a:endParaRPr b="0" lang="ru-RU" sz="2200" spc="-1" strike="noStrike"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526680" y="668520"/>
            <a:ext cx="11297160" cy="2348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Влияние шума на восприятие</a:t>
            </a:r>
            <a:endParaRPr b="0" lang="ru-RU" sz="31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</p:txBody>
      </p:sp>
      <p:pic>
        <p:nvPicPr>
          <p:cNvPr id="86" name="Google Shape;231;p36" descr=""/>
          <p:cNvPicPr/>
          <p:nvPr/>
        </p:nvPicPr>
        <p:blipFill>
          <a:blip r:embed="rId1"/>
          <a:stretch/>
        </p:blipFill>
        <p:spPr>
          <a:xfrm>
            <a:off x="6336000" y="2091600"/>
            <a:ext cx="4934880" cy="4544640"/>
          </a:xfrm>
          <a:prstGeom prst="rect">
            <a:avLst/>
          </a:prstGeom>
          <a:ln w="0">
            <a:noFill/>
          </a:ln>
        </p:spPr>
      </p:pic>
      <p:pic>
        <p:nvPicPr>
          <p:cNvPr id="87" name="Google Shape;232;p36" descr=""/>
          <p:cNvPicPr/>
          <p:nvPr/>
        </p:nvPicPr>
        <p:blipFill>
          <a:blip r:embed="rId2"/>
          <a:stretch/>
        </p:blipFill>
        <p:spPr>
          <a:xfrm>
            <a:off x="900000" y="2071080"/>
            <a:ext cx="4957200" cy="4565160"/>
          </a:xfrm>
          <a:prstGeom prst="rect">
            <a:avLst/>
          </a:prstGeom>
          <a:ln w="0">
            <a:noFill/>
          </a:ln>
        </p:spPr>
      </p:pic>
      <p:pic>
        <p:nvPicPr>
          <p:cNvPr id="88" name="" descr=""/>
          <p:cNvPicPr/>
          <p:nvPr/>
        </p:nvPicPr>
        <p:blipFill>
          <a:blip r:embed="rId3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/>
          </p:nvPr>
        </p:nvSpPr>
        <p:spPr>
          <a:xfrm>
            <a:off x="526680" y="900000"/>
            <a:ext cx="11297160" cy="1649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Влияние шума на качество сигнала</a:t>
            </a:r>
            <a:endParaRPr b="0" lang="ru-RU" sz="31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</p:txBody>
      </p:sp>
      <p:pic>
        <p:nvPicPr>
          <p:cNvPr id="90" name="Google Shape;241;p37" descr=""/>
          <p:cNvPicPr/>
          <p:nvPr/>
        </p:nvPicPr>
        <p:blipFill>
          <a:blip r:embed="rId1"/>
          <a:stretch/>
        </p:blipFill>
        <p:spPr>
          <a:xfrm>
            <a:off x="4142160" y="3141720"/>
            <a:ext cx="7628760" cy="1046880"/>
          </a:xfrm>
          <a:prstGeom prst="rect">
            <a:avLst/>
          </a:prstGeom>
          <a:ln w="0">
            <a:noFill/>
          </a:ln>
        </p:spPr>
      </p:pic>
      <p:pic>
        <p:nvPicPr>
          <p:cNvPr id="91" name="Google Shape;242;p37" descr=""/>
          <p:cNvPicPr/>
          <p:nvPr/>
        </p:nvPicPr>
        <p:blipFill>
          <a:blip r:embed="rId2"/>
          <a:stretch/>
        </p:blipFill>
        <p:spPr>
          <a:xfrm>
            <a:off x="526680" y="1644480"/>
            <a:ext cx="5847480" cy="1374120"/>
          </a:xfrm>
          <a:prstGeom prst="rect">
            <a:avLst/>
          </a:prstGeom>
          <a:ln w="0">
            <a:noFill/>
          </a:ln>
        </p:spPr>
      </p:pic>
      <p:pic>
        <p:nvPicPr>
          <p:cNvPr id="92" name="Google Shape;243;p37" descr=""/>
          <p:cNvPicPr/>
          <p:nvPr/>
        </p:nvPicPr>
        <p:blipFill>
          <a:blip r:embed="rId3"/>
          <a:stretch/>
        </p:blipFill>
        <p:spPr>
          <a:xfrm>
            <a:off x="537120" y="3688920"/>
            <a:ext cx="4696560" cy="2825640"/>
          </a:xfrm>
          <a:prstGeom prst="rect">
            <a:avLst/>
          </a:prstGeom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4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249;p38"/>
          <p:cNvSpPr/>
          <p:nvPr/>
        </p:nvSpPr>
        <p:spPr>
          <a:xfrm>
            <a:off x="0" y="2740320"/>
            <a:ext cx="9502560" cy="17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72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HASH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95" name="Google Shape;250;p38" descr=""/>
          <p:cNvPicPr/>
          <p:nvPr/>
        </p:nvPicPr>
        <p:blipFill>
          <a:blip r:embed="rId1">
            <a:alphaModFix amt="60000"/>
          </a:blip>
          <a:stretch/>
        </p:blipFill>
        <p:spPr>
          <a:xfrm>
            <a:off x="10369800" y="330120"/>
            <a:ext cx="1600560" cy="273600"/>
          </a:xfrm>
          <a:prstGeom prst="rect">
            <a:avLst/>
          </a:prstGeom>
          <a:ln w="0">
            <a:noFill/>
          </a:ln>
        </p:spPr>
      </p:pic>
      <p:pic>
        <p:nvPicPr>
          <p:cNvPr id="96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/>
          </p:nvPr>
        </p:nvSpPr>
        <p:spPr>
          <a:xfrm>
            <a:off x="540000" y="1036440"/>
            <a:ext cx="11297160" cy="4903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HASH</a:t>
            </a:r>
            <a:endParaRPr b="0" lang="ru-RU" sz="3100" spc="-1" strike="noStrike">
              <a:latin typeface="Arial"/>
            </a:endParaRPr>
          </a:p>
          <a:p>
            <a:pPr marL="144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Мое имя - Vladimir Medintsev — после преобразования его хеш-функцией MD5  я получу следующую строку: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b2e17d37968962b3df8758b76db8c0da</a:t>
            </a: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,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а при обработке алгоритмом SHA1: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rgbClr val="000000"/>
                </a:solidFill>
                <a:latin typeface="IBM Plex Sans"/>
                <a:ea typeface="IBM Plex Sans"/>
              </a:rPr>
              <a:t>224f718141f2c92d52ea31d94ae598618472548b</a:t>
            </a:r>
            <a:endParaRPr b="0" lang="ru-RU" sz="3200" spc="-1" strike="noStrike"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/>
          </p:nvPr>
        </p:nvSpPr>
        <p:spPr>
          <a:xfrm>
            <a:off x="180000" y="900720"/>
            <a:ext cx="11297160" cy="898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HASH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00" name="Google Shape;267;p40" descr=""/>
          <p:cNvPicPr/>
          <p:nvPr/>
        </p:nvPicPr>
        <p:blipFill>
          <a:blip r:embed="rId1"/>
          <a:stretch/>
        </p:blipFill>
        <p:spPr>
          <a:xfrm>
            <a:off x="2857680" y="1766160"/>
            <a:ext cx="6476400" cy="433332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/>
          </p:nvPr>
        </p:nvSpPr>
        <p:spPr>
          <a:xfrm>
            <a:off x="526680" y="1260000"/>
            <a:ext cx="11297160" cy="52030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HASH</a:t>
            </a:r>
            <a:endParaRPr b="0" lang="ru-RU" sz="3100" spc="-1" strike="noStrike">
              <a:latin typeface="Arial"/>
            </a:endParaRPr>
          </a:p>
          <a:p>
            <a:pPr marL="144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Для идеальной хеш-функции выполняются следующие условия: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1. Хеш-функция является детерминированной, то есть одно и то же сообщение приводит к одному и тому же хеш-значению;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2. Значение хеш-функции быстро вычисляется для любого сообщения;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3. Невозможно найти сообщение, которое дает заданное хеш-значение;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4. Невозможно найти два разных сообщения с одинаковым хеш-значением;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5. Небольшое изменение в сообщении изменяет хеш настолько сильно, что новое и старое значения кажутся некоррелирующими</a:t>
            </a:r>
            <a:endParaRPr b="0" lang="ru-RU" sz="2200" spc="-1" strike="noStrike"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/>
          </p:nvPr>
        </p:nvSpPr>
        <p:spPr>
          <a:xfrm>
            <a:off x="402480" y="1096560"/>
            <a:ext cx="11297160" cy="48430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HASH. Свойства</a:t>
            </a:r>
            <a:endParaRPr b="0" lang="ru-RU" sz="3100" spc="-1" strike="noStrike">
              <a:latin typeface="Arial"/>
            </a:endParaRPr>
          </a:p>
          <a:p>
            <a:pPr marL="144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</a:t>
            </a: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1. Pre-image resistance. Имея заданное значение h, должно быть сложно найти любое сообщение m такое, что h = hash(m)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2. Second pre-image resistance. Имея заданное входное значение m1, должно быть сложно найти другое входное значение m2 такое, что hash(m1) = hash(m2)</a:t>
            </a:r>
            <a:endParaRPr b="0" lang="ru-RU" sz="22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3. Collision resistance. Должно быть сложно найти два различных сообщения m1 и m2 таких, что hash(m1) = hash(m2). Такая пара сообщений m1 и m2 называется коллизией хеш-функции.</a:t>
            </a:r>
            <a:endParaRPr b="0" lang="ru-RU" sz="2200" spc="-1" strike="noStrike"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289;p43"/>
          <p:cNvSpPr/>
          <p:nvPr/>
        </p:nvSpPr>
        <p:spPr>
          <a:xfrm>
            <a:off x="6005520" y="1296000"/>
            <a:ext cx="6185880" cy="169056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810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Проверка целостности сообщений и файлов</a:t>
            </a:r>
            <a:endParaRPr b="0" lang="ru-RU" sz="1900" spc="-1" strike="noStrike"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/>
          </p:nvPr>
        </p:nvSpPr>
        <p:spPr>
          <a:xfrm>
            <a:off x="0" y="1260000"/>
            <a:ext cx="6004800" cy="5597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Применение HASH</a:t>
            </a:r>
            <a:endParaRPr b="0" lang="ru-RU" sz="3100" spc="-1" strike="noStrike">
              <a:latin typeface="Arial"/>
            </a:endParaRPr>
          </a:p>
        </p:txBody>
      </p:sp>
      <p:sp>
        <p:nvSpPr>
          <p:cNvPr id="108" name="Google Shape;292;p43"/>
          <p:cNvSpPr/>
          <p:nvPr/>
        </p:nvSpPr>
        <p:spPr>
          <a:xfrm>
            <a:off x="6005520" y="3096000"/>
            <a:ext cx="6185880" cy="1837800"/>
          </a:xfrm>
          <a:prstGeom prst="rect">
            <a:avLst/>
          </a:prstGeom>
          <a:solidFill>
            <a:srgbClr val="e1ff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810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Верификация паролей</a:t>
            </a:r>
            <a:endParaRPr b="0" lang="ru-RU" sz="1900" spc="-1" strike="noStrike">
              <a:latin typeface="Arial"/>
            </a:endParaRPr>
          </a:p>
        </p:txBody>
      </p:sp>
      <p:sp>
        <p:nvSpPr>
          <p:cNvPr id="109" name="Google Shape;293;p43"/>
          <p:cNvSpPr/>
          <p:nvPr/>
        </p:nvSpPr>
        <p:spPr>
          <a:xfrm>
            <a:off x="6005520" y="5040000"/>
            <a:ext cx="6185880" cy="180504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810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9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Цифровая подпись</a:t>
            </a:r>
            <a:endParaRPr b="0" lang="ru-RU" sz="1900" spc="-1" strike="noStrike">
              <a:latin typeface="Arial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/>
          </p:nvPr>
        </p:nvSpPr>
        <p:spPr>
          <a:xfrm>
            <a:off x="526680" y="1440000"/>
            <a:ext cx="11297160" cy="50230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HASH. Пример</a:t>
            </a:r>
            <a:endParaRPr b="0" lang="ru-RU" sz="3100" spc="-1" strike="noStrike">
              <a:latin typeface="Arial"/>
            </a:endParaRPr>
          </a:p>
          <a:p>
            <a:pPr marL="144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Алиса ставит перед Бобом сложную математическую задачу и утверждает, что она ее решила. Боб хотел бы попробовать решить задачу сам, но все же хотел бы быть уверенным, что Алиса не блефует. Поэтому Алиса записывает свое решение, вычисляет его хеш и сообщает Бобу (сохраняя решение в секрете). Затем, когда Боб сам придумает решение, Алиса может доказать, что она получила решение раньше Боба. Для этого ей нужно попросить Боба хешировать его решение и проверить, соответствует ли оно хеш-значению, которое она предоставила ему раньше.</a:t>
            </a:r>
            <a:endParaRPr b="0" lang="ru-RU" sz="2200" spc="-1" strike="noStrike"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307;p45"/>
          <p:cNvSpPr/>
          <p:nvPr/>
        </p:nvSpPr>
        <p:spPr>
          <a:xfrm>
            <a:off x="0" y="2740320"/>
            <a:ext cx="8299080" cy="17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marL="720000"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CRYP</a:t>
            </a:r>
            <a:endParaRPr b="0" lang="ru-RU" sz="3100" spc="-1" strike="noStrike">
              <a:latin typeface="Arial"/>
            </a:endParaRPr>
          </a:p>
          <a:p>
            <a:pPr marL="72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100" spc="-1" strike="noStrike">
                <a:solidFill>
                  <a:srgbClr val="000000"/>
                </a:solidFill>
                <a:highlight>
                  <a:srgbClr val="f3f3f3"/>
                </a:highlight>
                <a:latin typeface="IBM Plex Sans ExtraLight"/>
                <a:ea typeface="IBM Plex Sans ExtraLight"/>
              </a:rPr>
              <a:t>Криптографический процессор</a:t>
            </a:r>
            <a:endParaRPr b="0" lang="ru-RU" sz="2100" spc="-1" strike="noStrike">
              <a:latin typeface="Arial"/>
            </a:endParaRPr>
          </a:p>
        </p:txBody>
      </p:sp>
      <p:pic>
        <p:nvPicPr>
          <p:cNvPr id="114" name="Google Shape;308;p45" descr=""/>
          <p:cNvPicPr/>
          <p:nvPr/>
        </p:nvPicPr>
        <p:blipFill>
          <a:blip r:embed="rId1">
            <a:alphaModFix amt="60000"/>
          </a:blip>
          <a:stretch/>
        </p:blipFill>
        <p:spPr>
          <a:xfrm>
            <a:off x="10369800" y="330120"/>
            <a:ext cx="1600560" cy="273600"/>
          </a:xfrm>
          <a:prstGeom prst="rect">
            <a:avLst/>
          </a:prstGeom>
          <a:ln w="0">
            <a:noFill/>
          </a:ln>
        </p:spPr>
      </p:pic>
      <p:pic>
        <p:nvPicPr>
          <p:cNvPr id="115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/>
          </p:nvPr>
        </p:nvSpPr>
        <p:spPr>
          <a:xfrm>
            <a:off x="382680" y="920520"/>
            <a:ext cx="11297160" cy="898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CRYP</a:t>
            </a:r>
            <a:endParaRPr b="0" lang="ru-RU" sz="3100" spc="-1" strike="noStrike">
              <a:latin typeface="Arial"/>
            </a:endParaRPr>
          </a:p>
        </p:txBody>
      </p:sp>
      <p:pic>
        <p:nvPicPr>
          <p:cNvPr id="117" name="Google Shape;317;p46" descr=""/>
          <p:cNvPicPr/>
          <p:nvPr/>
        </p:nvPicPr>
        <p:blipFill>
          <a:blip r:embed="rId1"/>
          <a:stretch/>
        </p:blipFill>
        <p:spPr>
          <a:xfrm>
            <a:off x="2412000" y="1387800"/>
            <a:ext cx="7205760" cy="5109840"/>
          </a:xfrm>
          <a:prstGeom prst="rect">
            <a:avLst/>
          </a:prstGeom>
          <a:ln w="0">
            <a:noFill/>
          </a:ln>
        </p:spPr>
      </p:pic>
      <p:pic>
        <p:nvPicPr>
          <p:cNvPr id="118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/>
          </p:nvPr>
        </p:nvSpPr>
        <p:spPr>
          <a:xfrm>
            <a:off x="526680" y="1080000"/>
            <a:ext cx="11297160" cy="53830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CRYP. Алгоритмы</a:t>
            </a:r>
            <a:endParaRPr b="0" lang="ru-RU" sz="3100" spc="-1" strike="noStrike">
              <a:latin typeface="Arial"/>
            </a:endParaRPr>
          </a:p>
          <a:p>
            <a:pPr marL="144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2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</a:t>
            </a:r>
            <a:r>
              <a:rPr b="0" lang="ru-RU" sz="19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1. AES-128, AES-192, AES-256 (ECB (Electronic Codebook Mode), CBC (Cipher-Block Chaining), CTR (Counter Mode), CFB (Cipher Feedback), OFB (Output Feedback), CCM (CBC-MAC), GCM (Galois Counter Mode), CMAC, KEY WRAP, XTS);</a:t>
            </a:r>
            <a:endParaRPr b="0" lang="ru-RU" sz="18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2. хеш-функции с поддержкой HMAC (SHA-1, SHA-224, SHA-256, SHA-384, SHA-512);</a:t>
            </a:r>
            <a:endParaRPr b="0" lang="ru-RU" sz="18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3. программный генератор случайных чисел на базе DRBG-AES-128;</a:t>
            </a:r>
            <a:endParaRPr b="0" lang="ru-RU" sz="18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4. RSA с PKCS#1v1.5 (кодирование/декодирование, цифровые подписи);</a:t>
            </a:r>
            <a:endParaRPr b="0" lang="ru-RU" sz="18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5. ECC (Elliptic Curve Cryptography) — генерация ключей, Scalar multiplication, ECDSA.</a:t>
            </a:r>
            <a:endParaRPr b="0" lang="ru-RU" sz="1800" spc="-1" strike="noStrike">
              <a:latin typeface="Arial"/>
            </a:endParaRPr>
          </a:p>
          <a:p>
            <a:pPr marL="6300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    </a:t>
            </a:r>
            <a:r>
              <a:rPr b="0" lang="ru-RU" sz="18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6. Кроме того, библиотека имеет несертифицированную поддержку дополнительных алгоритмов ARC4, DES, TripleDES (ECB (Electronic Codebook Mode) и CBC (Cipher-Block Chaining)), хеш-функции (MD5 и HKDF-SHA-512), ChaCha20, Poly1305, CHaCHA20-POLY1305, ED25519, Curve25519.</a:t>
            </a:r>
            <a:endParaRPr b="0" lang="ru-RU" sz="1800" spc="-1" strike="noStrike"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/>
          </p:nvPr>
        </p:nvSpPr>
        <p:spPr>
          <a:xfrm>
            <a:off x="360000" y="1260000"/>
            <a:ext cx="11297160" cy="2543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STM32 cryptographic firmware library software expansion for STM32Cube</a:t>
            </a: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1800" spc="-1" strike="noStrike">
                <a:solidFill>
                  <a:srgbClr val="000000"/>
                </a:solidFill>
                <a:latin typeface="IBM Plex Sans Light"/>
                <a:ea typeface="IBM Plex Sans Light"/>
              </a:rPr>
              <a:t>Библиотека содержит функции для следующих серий микроконтроллеров: STM32F0, STM32F1, STM32F2, STM32F3, STM32F4, STM32F7, STM32G0, STM32G4, STM32H7, STM32L0, STM32L1, STM32L4, STM32L4+, STM32L5, STM32WB и STM32WL.</a:t>
            </a:r>
            <a:endParaRPr b="0" lang="ru-RU" sz="1800" spc="-1" strike="noStrike">
              <a:latin typeface="Arial"/>
            </a:endParaRPr>
          </a:p>
        </p:txBody>
      </p:sp>
      <p:pic>
        <p:nvPicPr>
          <p:cNvPr id="122" name="Google Shape;334;p48" descr=""/>
          <p:cNvPicPr/>
          <p:nvPr/>
        </p:nvPicPr>
        <p:blipFill>
          <a:blip r:embed="rId1"/>
          <a:stretch/>
        </p:blipFill>
        <p:spPr>
          <a:xfrm>
            <a:off x="540000" y="3780000"/>
            <a:ext cx="3215160" cy="1311120"/>
          </a:xfrm>
          <a:prstGeom prst="rect">
            <a:avLst/>
          </a:prstGeom>
          <a:ln w="0">
            <a:noFill/>
          </a:ln>
        </p:spPr>
      </p:pic>
      <p:pic>
        <p:nvPicPr>
          <p:cNvPr id="123" name="Google Shape;335;p48" descr=""/>
          <p:cNvPicPr/>
          <p:nvPr/>
        </p:nvPicPr>
        <p:blipFill>
          <a:blip r:embed="rId2"/>
          <a:stretch/>
        </p:blipFill>
        <p:spPr>
          <a:xfrm>
            <a:off x="9318960" y="3294720"/>
            <a:ext cx="2380680" cy="3184920"/>
          </a:xfrm>
          <a:prstGeom prst="rect">
            <a:avLst/>
          </a:prstGeom>
          <a:ln w="0">
            <a:noFill/>
          </a:ln>
        </p:spPr>
      </p:pic>
      <p:pic>
        <p:nvPicPr>
          <p:cNvPr id="124" name="Google Shape;336;p48" descr=""/>
          <p:cNvPicPr/>
          <p:nvPr/>
        </p:nvPicPr>
        <p:blipFill>
          <a:blip r:embed="rId3"/>
          <a:stretch/>
        </p:blipFill>
        <p:spPr>
          <a:xfrm>
            <a:off x="3960000" y="4320000"/>
            <a:ext cx="5033160" cy="2118960"/>
          </a:xfrm>
          <a:prstGeom prst="rect">
            <a:avLst/>
          </a:prstGeom>
          <a:ln w="0">
            <a:noFill/>
          </a:ln>
        </p:spPr>
      </p:pic>
      <p:pic>
        <p:nvPicPr>
          <p:cNvPr id="125" name="" descr=""/>
          <p:cNvPicPr/>
          <p:nvPr/>
        </p:nvPicPr>
        <p:blipFill>
          <a:blip r:embed="rId4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/>
          </p:nvPr>
        </p:nvSpPr>
        <p:spPr>
          <a:xfrm>
            <a:off x="526680" y="1260000"/>
            <a:ext cx="11297160" cy="1484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highlight>
                  <a:srgbClr val="e1fff6"/>
                </a:highlight>
                <a:latin typeface="Montserrat Light"/>
                <a:ea typeface="Montserrat Light"/>
              </a:rPr>
              <a:t>STM32 cryptographic firmware library software expansion for STM32Cube</a:t>
            </a:r>
            <a:endParaRPr b="0" lang="ru-RU" sz="3100" spc="-1" strike="noStrike">
              <a:latin typeface="Arial"/>
            </a:endParaRPr>
          </a:p>
          <a:p>
            <a:pPr marL="630000">
              <a:lnSpc>
                <a:spcPct val="71000"/>
              </a:lnSpc>
              <a:buNone/>
              <a:tabLst>
                <a:tab algn="l" pos="0"/>
              </a:tabLst>
            </a:pPr>
            <a:endParaRPr b="0" lang="ru-RU" sz="3100" spc="-1" strike="noStrike">
              <a:latin typeface="Arial"/>
            </a:endParaRPr>
          </a:p>
        </p:txBody>
      </p:sp>
      <p:pic>
        <p:nvPicPr>
          <p:cNvPr id="127" name="Google Shape;345;p49" descr=""/>
          <p:cNvPicPr/>
          <p:nvPr/>
        </p:nvPicPr>
        <p:blipFill>
          <a:blip r:embed="rId1"/>
          <a:stretch/>
        </p:blipFill>
        <p:spPr>
          <a:xfrm>
            <a:off x="3420000" y="2326320"/>
            <a:ext cx="5790600" cy="433332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0" y="1296360"/>
            <a:ext cx="6217920" cy="683280"/>
          </a:xfrm>
          <a:prstGeom prst="rect">
            <a:avLst/>
          </a:prstGeom>
          <a:solidFill>
            <a:srgbClr val="e1fff6"/>
          </a:solidFill>
          <a:ln w="0">
            <a:noFill/>
          </a:ln>
        </p:spPr>
        <p:txBody>
          <a:bodyPr anchor="ctr">
            <a:noAutofit/>
          </a:bodyPr>
          <a:p>
            <a:pPr marL="11700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100" spc="-1" strike="noStrike">
                <a:solidFill>
                  <a:srgbClr val="434343"/>
                </a:solidFill>
                <a:latin typeface="Montserrat Light"/>
                <a:ea typeface="Montserrat Light"/>
              </a:rPr>
              <a:t>ДОМАШНЕЕ ЗАДАНИЕ</a:t>
            </a:r>
            <a:endParaRPr b="0" lang="ru-RU" sz="31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1178640" y="1792800"/>
            <a:ext cx="9836640" cy="4340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232735"/>
                </a:solidFill>
                <a:latin typeface="IBM Plex Sans Light"/>
                <a:ea typeface="IBM Plex Sans Light"/>
              </a:rPr>
              <a:t>Создайте проект в среде разработки STM32CubeIDE с имеющейся в наличии платой Nucleo. Подключите библиотеку шифрования соответствующую имеющемуся у вас микроконтроллеру и компилируйте один из представленных примеров. Либо создайте свой пример, опираясь на предоставленные с библиотекой исходники. </a:t>
            </a:r>
            <a:endParaRPr b="0" lang="ru-RU" sz="2000" spc="-1" strike="noStrike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232735"/>
                </a:solidFill>
                <a:latin typeface="IBM Plex Sans Light"/>
                <a:ea typeface="IBM Plex Sans Light"/>
              </a:rPr>
              <a:t>Целью домашнего задания является: 1. Научиться подключать внешние библиотечные файлы; 2. Получить опыт шифрования данных; 3. Получить опыт работы с предкомпилированными библиотечными файлами. В качестве результата выполнения домашнего задания представьте снимок экрана отображающий в процессе отладки массив с исходными и зашифрованными данными.</a:t>
            </a:r>
            <a:endParaRPr b="0" lang="ru-RU" sz="2000" spc="-1" strike="noStrike">
              <a:latin typeface="Arial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2191400" cy="60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22b45"/>
      </a:accent1>
      <a:accent2>
        <a:srgbClr val="cac1ac"/>
      </a:accent2>
      <a:accent3>
        <a:srgbClr val="d9d1ce"/>
      </a:accent3>
      <a:accent4>
        <a:srgbClr val="eff0ed"/>
      </a:accent4>
      <a:accent5>
        <a:srgbClr val="5d6591"/>
      </a:accent5>
      <a:accent6>
        <a:srgbClr val="a69388"/>
      </a:accent6>
      <a:hlink>
        <a:srgbClr val="4b5050"/>
      </a:hlink>
      <a:folHlink>
        <a:srgbClr val="19bb9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22b45"/>
      </a:accent1>
      <a:accent2>
        <a:srgbClr val="cac1ac"/>
      </a:accent2>
      <a:accent3>
        <a:srgbClr val="d9d1ce"/>
      </a:accent3>
      <a:accent4>
        <a:srgbClr val="eff0ed"/>
      </a:accent4>
      <a:accent5>
        <a:srgbClr val="5d6591"/>
      </a:accent5>
      <a:accent6>
        <a:srgbClr val="a69388"/>
      </a:accent6>
      <a:hlink>
        <a:srgbClr val="4b5050"/>
      </a:hlink>
      <a:folHlink>
        <a:srgbClr val="19bb9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Application>LibreOffice/7.3.0.3$Windows_X86_64 LibreOffice_project/0f246aa12d0eee4a0f7adcefbf7c878fc2238db3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2024-05-28T00:17:18Z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