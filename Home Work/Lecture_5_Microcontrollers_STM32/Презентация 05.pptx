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2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D8B6153-4A6B-45E0-BDFB-0FACF8A26689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9864618-F9FB-4568-940A-A8E8596E0EA6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89097C1-1C16-478D-AD00-CE879EEF8774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6;p20"/>
          <p:cNvSpPr/>
          <p:nvPr/>
        </p:nvSpPr>
        <p:spPr>
          <a:xfrm>
            <a:off x="225360" y="2024280"/>
            <a:ext cx="7045560" cy="22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180000" indent="-856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4100" spc="-1" strike="noStrike">
                <a:solidFill>
                  <a:srgbClr val="666666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Таймера HRTIM и LPTIM</a:t>
            </a:r>
            <a:endParaRPr b="0" lang="ru-RU" sz="4100" spc="-1" strike="noStrike">
              <a:latin typeface="Arial"/>
            </a:endParaRPr>
          </a:p>
        </p:txBody>
      </p:sp>
      <p:sp>
        <p:nvSpPr>
          <p:cNvPr id="45" name="Google Shape;98;p20"/>
          <p:cNvSpPr/>
          <p:nvPr/>
        </p:nvSpPr>
        <p:spPr>
          <a:xfrm>
            <a:off x="540000" y="5948640"/>
            <a:ext cx="613008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2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Микроконтроллеры STM32 / 5 занятие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485280" y="539280"/>
            <a:ext cx="11220480" cy="5779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 ЭТОМ УРОКЕ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Узнаем как использовать таймер HRTIM для генерации ШИМ сигнала</a:t>
            </a:r>
            <a:endParaRPr b="0" lang="ru-RU" sz="19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Как использовать таймер LPTIM в качестве источника событий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1;p22"/>
          <p:cNvSpPr/>
          <p:nvPr/>
        </p:nvSpPr>
        <p:spPr>
          <a:xfrm>
            <a:off x="1440" y="524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Таймер с высоким разрешением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49" name="Google Shape;113;p22" descr=""/>
          <p:cNvPicPr/>
          <p:nvPr/>
        </p:nvPicPr>
        <p:blipFill>
          <a:blip r:embed="rId1"/>
          <a:stretch/>
        </p:blipFill>
        <p:spPr>
          <a:xfrm>
            <a:off x="595440" y="2379600"/>
            <a:ext cx="11000520" cy="287568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8;p23"/>
          <p:cNvSpPr/>
          <p:nvPr/>
        </p:nvSpPr>
        <p:spPr>
          <a:xfrm>
            <a:off x="1440" y="920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Версии HRTIM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52" name="Google Shape;120;p23" descr=""/>
          <p:cNvPicPr/>
          <p:nvPr/>
        </p:nvPicPr>
        <p:blipFill>
          <a:blip r:embed="rId1"/>
          <a:stretch/>
        </p:blipFill>
        <p:spPr>
          <a:xfrm>
            <a:off x="152280" y="2442600"/>
            <a:ext cx="11886480" cy="383472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25;p24"/>
          <p:cNvSpPr/>
          <p:nvPr/>
        </p:nvSpPr>
        <p:spPr>
          <a:xfrm>
            <a:off x="1440" y="110088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Тактирование HRTIM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55" name="Google Shape;127;p24" descr=""/>
          <p:cNvPicPr/>
          <p:nvPr/>
        </p:nvPicPr>
        <p:blipFill>
          <a:blip r:embed="rId1"/>
          <a:stretch/>
        </p:blipFill>
        <p:spPr>
          <a:xfrm>
            <a:off x="3817800" y="2150280"/>
            <a:ext cx="7723800" cy="274500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28;p24"/>
          <p:cNvSpPr/>
          <p:nvPr/>
        </p:nvSpPr>
        <p:spPr>
          <a:xfrm>
            <a:off x="297000" y="4932000"/>
            <a:ext cx="5138280" cy="93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just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i="1" lang="ru-RU" sz="1700" spc="-1" strike="noStrike">
                <a:solidFill>
                  <a:srgbClr val="000000"/>
                </a:solidFill>
                <a:latin typeface="Arial"/>
                <a:ea typeface="Arial"/>
              </a:rPr>
              <a:t>Функция - SystemCoreClockUpdate()</a:t>
            </a:r>
            <a:endParaRPr b="0" lang="ru-RU" sz="17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i="1" lang="ru-RU" sz="1700" spc="-1" strike="noStrike">
                <a:solidFill>
                  <a:srgbClr val="000000"/>
                </a:solidFill>
                <a:latin typeface="Arial"/>
                <a:ea typeface="Arial"/>
              </a:rPr>
              <a:t>uint32_t SystemCoreClock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57" name="Google Shape;129;p24"/>
          <p:cNvSpPr/>
          <p:nvPr/>
        </p:nvSpPr>
        <p:spPr>
          <a:xfrm>
            <a:off x="5013000" y="5678280"/>
            <a:ext cx="6393600" cy="93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just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i="1" lang="ru-RU" sz="1700" spc="-1" strike="noStrike">
                <a:solidFill>
                  <a:srgbClr val="000000"/>
                </a:solidFill>
                <a:latin typeface="Arial"/>
                <a:ea typeface="Arial"/>
              </a:rPr>
              <a:t>__HAL_RCC_HRTIM1_CONFIG(RCC_HRTIM1CLK_PLLCLK);</a:t>
            </a:r>
            <a:endParaRPr b="0" lang="ru-RU" sz="17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i="1" lang="ru-RU" sz="1700" spc="-1" strike="noStrike">
                <a:solidFill>
                  <a:srgbClr val="000000"/>
                </a:solidFill>
                <a:latin typeface="Arial"/>
                <a:ea typeface="Arial"/>
              </a:rPr>
              <a:t>__HRTIM1_CLK_ENABLE();</a:t>
            </a:r>
            <a:endParaRPr b="0" lang="ru-RU" sz="17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34;p25"/>
          <p:cNvSpPr/>
          <p:nvPr/>
        </p:nvSpPr>
        <p:spPr>
          <a:xfrm>
            <a:off x="1440" y="102888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Частота / период PWM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60" name="Google Shape;136;p25"/>
          <p:cNvSpPr/>
          <p:nvPr/>
        </p:nvSpPr>
        <p:spPr>
          <a:xfrm>
            <a:off x="3024000" y="1611000"/>
            <a:ext cx="6659280" cy="12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50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ru-RU" sz="4100" spc="-1" strike="noStrike">
                <a:solidFill>
                  <a:srgbClr val="000000"/>
                </a:solidFill>
                <a:latin typeface="Arial"/>
                <a:ea typeface="Arial"/>
              </a:rPr>
              <a:t>PER = T</a:t>
            </a:r>
            <a:r>
              <a:rPr b="1" lang="ru-RU" sz="41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counting</a:t>
            </a:r>
            <a:r>
              <a:rPr b="1" lang="ru-RU" sz="4100" spc="-1" strike="noStrike">
                <a:solidFill>
                  <a:srgbClr val="000000"/>
                </a:solidFill>
                <a:latin typeface="Arial"/>
                <a:ea typeface="Arial"/>
              </a:rPr>
              <a:t> / T</a:t>
            </a:r>
            <a:r>
              <a:rPr b="1" lang="ru-RU" sz="41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High-res</a:t>
            </a:r>
            <a:endParaRPr b="0" lang="ru-RU" sz="4100" spc="-1" strike="noStrike">
              <a:latin typeface="Arial"/>
            </a:endParaRPr>
          </a:p>
        </p:txBody>
      </p:sp>
      <p:sp>
        <p:nvSpPr>
          <p:cNvPr id="61" name="Google Shape;137;p25"/>
          <p:cNvSpPr/>
          <p:nvPr/>
        </p:nvSpPr>
        <p:spPr>
          <a:xfrm>
            <a:off x="1195560" y="2691000"/>
            <a:ext cx="980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just">
              <a:lnSpc>
                <a:spcPct val="150000"/>
              </a:lnSpc>
              <a:spcBef>
                <a:spcPts val="1001"/>
              </a:spcBef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c2d30"/>
                </a:solidFill>
                <a:highlight>
                  <a:srgbClr val="dddddd"/>
                </a:highlight>
                <a:latin typeface="Times New Roman"/>
                <a:ea typeface="Times New Roman"/>
              </a:rPr>
              <a:t>HRTIM1-&gt;sTimerxRegs[HRTIM_TIMERINDEX_TIMER_D].PERxR = 0x0000B400;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62" name="Google Shape;138;p25" descr=""/>
          <p:cNvPicPr/>
          <p:nvPr/>
        </p:nvPicPr>
        <p:blipFill>
          <a:blip r:embed="rId1"/>
          <a:stretch/>
        </p:blipFill>
        <p:spPr>
          <a:xfrm>
            <a:off x="2394000" y="3354120"/>
            <a:ext cx="7712280" cy="299808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43;p26"/>
          <p:cNvSpPr/>
          <p:nvPr/>
        </p:nvSpPr>
        <p:spPr>
          <a:xfrm>
            <a:off x="1440" y="102888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Генерация PWM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65" name="Google Shape;145;p26" descr=""/>
          <p:cNvPicPr/>
          <p:nvPr/>
        </p:nvPicPr>
        <p:blipFill>
          <a:blip r:embed="rId1"/>
          <a:stretch/>
        </p:blipFill>
        <p:spPr>
          <a:xfrm>
            <a:off x="152280" y="2267280"/>
            <a:ext cx="11886480" cy="398736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50;p27"/>
          <p:cNvSpPr/>
          <p:nvPr/>
        </p:nvSpPr>
        <p:spPr>
          <a:xfrm>
            <a:off x="1440" y="153288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Минимальная частота PWM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68" name="Google Shape;152;p27" descr=""/>
          <p:cNvPicPr/>
          <p:nvPr/>
        </p:nvPicPr>
        <p:blipFill>
          <a:blip r:embed="rId1"/>
          <a:stretch/>
        </p:blipFill>
        <p:spPr>
          <a:xfrm>
            <a:off x="2798280" y="2780280"/>
            <a:ext cx="6780960" cy="285696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57;p28"/>
          <p:cNvSpPr/>
          <p:nvPr/>
        </p:nvSpPr>
        <p:spPr>
          <a:xfrm>
            <a:off x="1440" y="99288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Генерация нескольких частот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1" name="Google Shape;159;p28" descr=""/>
          <p:cNvPicPr/>
          <p:nvPr/>
        </p:nvPicPr>
        <p:blipFill>
          <a:blip r:embed="rId1"/>
          <a:stretch/>
        </p:blipFill>
        <p:spPr>
          <a:xfrm>
            <a:off x="3420000" y="2124000"/>
            <a:ext cx="6080400" cy="427752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65;p29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Использование HRTIM на практике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4" name="Google Shape;166;p29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71;p30"/>
          <p:cNvSpPr/>
          <p:nvPr/>
        </p:nvSpPr>
        <p:spPr>
          <a:xfrm>
            <a:off x="1440" y="1119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7" name="Google Shape;173;p30" descr=""/>
          <p:cNvPicPr/>
          <p:nvPr/>
        </p:nvPicPr>
        <p:blipFill>
          <a:blip r:embed="rId1"/>
          <a:stretch/>
        </p:blipFill>
        <p:spPr>
          <a:xfrm>
            <a:off x="3816000" y="2155680"/>
            <a:ext cx="5135040" cy="162720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74;p30" descr=""/>
          <p:cNvPicPr/>
          <p:nvPr/>
        </p:nvPicPr>
        <p:blipFill>
          <a:blip r:embed="rId2"/>
          <a:stretch/>
        </p:blipFill>
        <p:spPr>
          <a:xfrm>
            <a:off x="3816000" y="3921120"/>
            <a:ext cx="5135040" cy="264636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79;p31"/>
          <p:cNvSpPr/>
          <p:nvPr/>
        </p:nvSpPr>
        <p:spPr>
          <a:xfrm>
            <a:off x="1440" y="759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81" name="Google Shape;181;p31" descr=""/>
          <p:cNvPicPr/>
          <p:nvPr/>
        </p:nvPicPr>
        <p:blipFill>
          <a:blip r:embed="rId1"/>
          <a:stretch/>
        </p:blipFill>
        <p:spPr>
          <a:xfrm>
            <a:off x="3722040" y="1931400"/>
            <a:ext cx="4747680" cy="3510000"/>
          </a:xfrm>
          <a:prstGeom prst="rect">
            <a:avLst/>
          </a:prstGeom>
          <a:ln w="0">
            <a:noFill/>
          </a:ln>
        </p:spPr>
      </p:pic>
      <p:sp>
        <p:nvSpPr>
          <p:cNvPr id="82" name="Google Shape;182;p31"/>
          <p:cNvSpPr/>
          <p:nvPr/>
        </p:nvSpPr>
        <p:spPr>
          <a:xfrm>
            <a:off x="641880" y="5466600"/>
            <a:ext cx="10964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300" spc="-1" strike="noStrike">
                <a:solidFill>
                  <a:srgbClr val="ff0000"/>
                </a:solidFill>
                <a:latin typeface="Arial"/>
                <a:ea typeface="Arial"/>
              </a:rPr>
              <a:t>Можете ли вы обьяснить как работает данная схема?</a:t>
            </a:r>
            <a:endParaRPr b="0" lang="ru-RU" sz="33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87;p32"/>
          <p:cNvSpPr/>
          <p:nvPr/>
        </p:nvSpPr>
        <p:spPr>
          <a:xfrm>
            <a:off x="1440" y="975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85" name="Google Shape;189;p32" descr=""/>
          <p:cNvPicPr/>
          <p:nvPr/>
        </p:nvPicPr>
        <p:blipFill>
          <a:blip r:embed="rId1"/>
          <a:stretch/>
        </p:blipFill>
        <p:spPr>
          <a:xfrm>
            <a:off x="262440" y="1994400"/>
            <a:ext cx="5018040" cy="344592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90;p32" descr=""/>
          <p:cNvPicPr/>
          <p:nvPr/>
        </p:nvPicPr>
        <p:blipFill>
          <a:blip r:embed="rId2"/>
          <a:stretch/>
        </p:blipFill>
        <p:spPr>
          <a:xfrm>
            <a:off x="6142680" y="2725920"/>
            <a:ext cx="5704560" cy="3940200"/>
          </a:xfrm>
          <a:prstGeom prst="rect">
            <a:avLst/>
          </a:prstGeom>
          <a:ln w="0">
            <a:noFill/>
          </a:ln>
        </p:spPr>
      </p:pic>
      <p:sp>
        <p:nvSpPr>
          <p:cNvPr id="87" name="Google Shape;191;p32"/>
          <p:cNvSpPr/>
          <p:nvPr/>
        </p:nvSpPr>
        <p:spPr>
          <a:xfrm>
            <a:off x="751680" y="5369040"/>
            <a:ext cx="39722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Стадия накопления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8" name="Google Shape;192;p32"/>
          <p:cNvSpPr/>
          <p:nvPr/>
        </p:nvSpPr>
        <p:spPr>
          <a:xfrm>
            <a:off x="7548840" y="2267640"/>
            <a:ext cx="32817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Стадия разряда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89" name="Google Shape;193;p32" descr=""/>
          <p:cNvPicPr/>
          <p:nvPr/>
        </p:nvPicPr>
        <p:blipFill>
          <a:blip r:embed="rId3"/>
          <a:stretch/>
        </p:blipFill>
        <p:spPr>
          <a:xfrm>
            <a:off x="2874960" y="5778360"/>
            <a:ext cx="2952000" cy="70416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4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98;p33"/>
          <p:cNvSpPr/>
          <p:nvPr/>
        </p:nvSpPr>
        <p:spPr>
          <a:xfrm>
            <a:off x="1440" y="1335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2" name="Google Shape;200;p33" descr=""/>
          <p:cNvPicPr/>
          <p:nvPr/>
        </p:nvPicPr>
        <p:blipFill>
          <a:blip r:embed="rId1"/>
          <a:stretch/>
        </p:blipFill>
        <p:spPr>
          <a:xfrm>
            <a:off x="3722040" y="2507400"/>
            <a:ext cx="4747680" cy="3510000"/>
          </a:xfrm>
          <a:prstGeom prst="rect">
            <a:avLst/>
          </a:prstGeom>
          <a:ln w="0">
            <a:noFill/>
          </a:ln>
        </p:spPr>
      </p:pic>
      <p:sp>
        <p:nvSpPr>
          <p:cNvPr id="93" name="Google Shape;201;p33"/>
          <p:cNvSpPr/>
          <p:nvPr/>
        </p:nvSpPr>
        <p:spPr>
          <a:xfrm>
            <a:off x="641880" y="6042600"/>
            <a:ext cx="1096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300" spc="-1" strike="noStrike">
                <a:solidFill>
                  <a:srgbClr val="ff0000"/>
                </a:solidFill>
                <a:latin typeface="Arial"/>
                <a:ea typeface="Arial"/>
              </a:rPr>
              <a:t>В чем проблема этой схемы?</a:t>
            </a:r>
            <a:endParaRPr b="0" lang="ru-RU" sz="33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206;p34"/>
          <p:cNvSpPr/>
          <p:nvPr/>
        </p:nvSpPr>
        <p:spPr>
          <a:xfrm>
            <a:off x="1440" y="939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6" name="Google Shape;208;p34" descr=""/>
          <p:cNvPicPr/>
          <p:nvPr/>
        </p:nvPicPr>
        <p:blipFill>
          <a:blip r:embed="rId1"/>
          <a:stretch/>
        </p:blipFill>
        <p:spPr>
          <a:xfrm>
            <a:off x="3060000" y="2039760"/>
            <a:ext cx="5996880" cy="247932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209;p34" descr=""/>
          <p:cNvPicPr/>
          <p:nvPr/>
        </p:nvPicPr>
        <p:blipFill>
          <a:blip r:embed="rId2"/>
          <a:stretch/>
        </p:blipFill>
        <p:spPr>
          <a:xfrm>
            <a:off x="2916000" y="4729320"/>
            <a:ext cx="6191280" cy="186408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214;p35"/>
          <p:cNvSpPr/>
          <p:nvPr/>
        </p:nvSpPr>
        <p:spPr>
          <a:xfrm>
            <a:off x="1440" y="108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0" name="Google Shape;216;p35" descr=""/>
          <p:cNvPicPr/>
          <p:nvPr/>
        </p:nvPicPr>
        <p:blipFill>
          <a:blip r:embed="rId1"/>
          <a:stretch/>
        </p:blipFill>
        <p:spPr>
          <a:xfrm>
            <a:off x="665280" y="2242080"/>
            <a:ext cx="4895280" cy="202392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217;p35" descr=""/>
          <p:cNvPicPr/>
          <p:nvPr/>
        </p:nvPicPr>
        <p:blipFill>
          <a:blip r:embed="rId2"/>
          <a:stretch/>
        </p:blipFill>
        <p:spPr>
          <a:xfrm>
            <a:off x="5650200" y="3600000"/>
            <a:ext cx="6201000" cy="2952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222;p36"/>
          <p:cNvSpPr/>
          <p:nvPr/>
        </p:nvSpPr>
        <p:spPr>
          <a:xfrm>
            <a:off x="1440" y="90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4" name="Google Shape;224;p36" descr=""/>
          <p:cNvPicPr/>
          <p:nvPr/>
        </p:nvPicPr>
        <p:blipFill>
          <a:blip r:embed="rId1"/>
          <a:stretch/>
        </p:blipFill>
        <p:spPr>
          <a:xfrm>
            <a:off x="3626280" y="2697840"/>
            <a:ext cx="4938480" cy="282960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225;p36"/>
          <p:cNvSpPr/>
          <p:nvPr/>
        </p:nvSpPr>
        <p:spPr>
          <a:xfrm>
            <a:off x="2829960" y="5855040"/>
            <a:ext cx="63500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Не кажется ли вам эта схема знакомой?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230;p37"/>
          <p:cNvSpPr/>
          <p:nvPr/>
        </p:nvSpPr>
        <p:spPr>
          <a:xfrm>
            <a:off x="1440" y="126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8" name="Google Shape;232;p37" descr=""/>
          <p:cNvPicPr/>
          <p:nvPr/>
        </p:nvPicPr>
        <p:blipFill>
          <a:blip r:embed="rId1"/>
          <a:stretch/>
        </p:blipFill>
        <p:spPr>
          <a:xfrm>
            <a:off x="152280" y="2502360"/>
            <a:ext cx="5329440" cy="332892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233;p37" descr=""/>
          <p:cNvPicPr/>
          <p:nvPr/>
        </p:nvPicPr>
        <p:blipFill>
          <a:blip r:embed="rId2"/>
          <a:stretch/>
        </p:blipFill>
        <p:spPr>
          <a:xfrm>
            <a:off x="6179400" y="3563640"/>
            <a:ext cx="5597280" cy="292644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234;p37"/>
          <p:cNvSpPr/>
          <p:nvPr/>
        </p:nvSpPr>
        <p:spPr>
          <a:xfrm>
            <a:off x="6252840" y="3013200"/>
            <a:ext cx="55065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Разряд индуктивности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Google Shape;235;p37"/>
          <p:cNvSpPr/>
          <p:nvPr/>
        </p:nvSpPr>
        <p:spPr>
          <a:xfrm>
            <a:off x="446040" y="5790600"/>
            <a:ext cx="48891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Накопление заряда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40;p38"/>
          <p:cNvSpPr/>
          <p:nvPr/>
        </p:nvSpPr>
        <p:spPr>
          <a:xfrm>
            <a:off x="1440" y="126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14" name="Google Shape;242;p38" descr=""/>
          <p:cNvPicPr/>
          <p:nvPr/>
        </p:nvPicPr>
        <p:blipFill>
          <a:blip r:embed="rId1"/>
          <a:stretch/>
        </p:blipFill>
        <p:spPr>
          <a:xfrm>
            <a:off x="2670480" y="2571120"/>
            <a:ext cx="6165720" cy="31129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7;p39"/>
          <p:cNvSpPr/>
          <p:nvPr/>
        </p:nvSpPr>
        <p:spPr>
          <a:xfrm>
            <a:off x="1440" y="1191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17" name="Google Shape;249;p39" descr=""/>
          <p:cNvPicPr/>
          <p:nvPr/>
        </p:nvPicPr>
        <p:blipFill>
          <a:blip r:embed="rId1"/>
          <a:stretch/>
        </p:blipFill>
        <p:spPr>
          <a:xfrm>
            <a:off x="1158480" y="2376000"/>
            <a:ext cx="9811800" cy="421056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54;p40"/>
          <p:cNvSpPr/>
          <p:nvPr/>
        </p:nvSpPr>
        <p:spPr>
          <a:xfrm>
            <a:off x="1440" y="126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0" name="Google Shape;256;p40" descr=""/>
          <p:cNvPicPr/>
          <p:nvPr/>
        </p:nvPicPr>
        <p:blipFill>
          <a:blip r:embed="rId1"/>
          <a:stretch/>
        </p:blipFill>
        <p:spPr>
          <a:xfrm>
            <a:off x="1332360" y="2520000"/>
            <a:ext cx="4607280" cy="1976760"/>
          </a:xfrm>
          <a:prstGeom prst="rect">
            <a:avLst/>
          </a:prstGeom>
          <a:ln w="0">
            <a:noFill/>
          </a:ln>
        </p:spPr>
      </p:pic>
      <p:pic>
        <p:nvPicPr>
          <p:cNvPr id="121" name="Google Shape;257;p40" descr=""/>
          <p:cNvPicPr/>
          <p:nvPr/>
        </p:nvPicPr>
        <p:blipFill>
          <a:blip r:embed="rId2"/>
          <a:stretch/>
        </p:blipFill>
        <p:spPr>
          <a:xfrm>
            <a:off x="5760000" y="4627800"/>
            <a:ext cx="5862960" cy="194832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62;p41"/>
          <p:cNvSpPr/>
          <p:nvPr/>
        </p:nvSpPr>
        <p:spPr>
          <a:xfrm>
            <a:off x="1440" y="975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4" name="Google Shape;264;p41" descr=""/>
          <p:cNvPicPr/>
          <p:nvPr/>
        </p:nvPicPr>
        <p:blipFill>
          <a:blip r:embed="rId1"/>
          <a:stretch/>
        </p:blipFill>
        <p:spPr>
          <a:xfrm>
            <a:off x="3420000" y="1918080"/>
            <a:ext cx="6075720" cy="468756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269;p42"/>
          <p:cNvSpPr/>
          <p:nvPr/>
        </p:nvSpPr>
        <p:spPr>
          <a:xfrm>
            <a:off x="1440" y="903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7" name="Google Shape;271;p42" descr=""/>
          <p:cNvPicPr/>
          <p:nvPr/>
        </p:nvPicPr>
        <p:blipFill>
          <a:blip r:embed="rId1"/>
          <a:stretch/>
        </p:blipFill>
        <p:spPr>
          <a:xfrm>
            <a:off x="2425320" y="1849680"/>
            <a:ext cx="7421040" cy="388908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72;p42"/>
          <p:cNvSpPr/>
          <p:nvPr/>
        </p:nvSpPr>
        <p:spPr>
          <a:xfrm>
            <a:off x="2487600" y="5598720"/>
            <a:ext cx="74808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Более детализированная схема понижающе-повышающего преобразователя.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77;p43"/>
          <p:cNvSpPr/>
          <p:nvPr/>
        </p:nvSpPr>
        <p:spPr>
          <a:xfrm>
            <a:off x="1440" y="1191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31" name="Google Shape;279;p43" descr=""/>
          <p:cNvPicPr/>
          <p:nvPr/>
        </p:nvPicPr>
        <p:blipFill>
          <a:blip r:embed="rId1"/>
          <a:stretch/>
        </p:blipFill>
        <p:spPr>
          <a:xfrm>
            <a:off x="2669400" y="1975320"/>
            <a:ext cx="6852240" cy="312192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80;p43" descr=""/>
          <p:cNvPicPr/>
          <p:nvPr/>
        </p:nvPicPr>
        <p:blipFill>
          <a:blip r:embed="rId2"/>
          <a:stretch/>
        </p:blipFill>
        <p:spPr>
          <a:xfrm>
            <a:off x="433440" y="5067360"/>
            <a:ext cx="3666240" cy="81828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281;p43"/>
          <p:cNvSpPr/>
          <p:nvPr/>
        </p:nvSpPr>
        <p:spPr>
          <a:xfrm>
            <a:off x="525600" y="4969440"/>
            <a:ext cx="3654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Для топологии BUCK: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4" name="Google Shape;282;p43"/>
          <p:cNvSpPr/>
          <p:nvPr/>
        </p:nvSpPr>
        <p:spPr>
          <a:xfrm>
            <a:off x="6034680" y="5248440"/>
            <a:ext cx="30128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Для топологии BOOST: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135" name="Google Shape;283;p43" descr=""/>
          <p:cNvPicPr/>
          <p:nvPr/>
        </p:nvPicPr>
        <p:blipFill>
          <a:blip r:embed="rId3"/>
          <a:stretch/>
        </p:blipFill>
        <p:spPr>
          <a:xfrm>
            <a:off x="8244360" y="5122440"/>
            <a:ext cx="2879640" cy="118296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4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288;p44"/>
          <p:cNvSpPr/>
          <p:nvPr/>
        </p:nvSpPr>
        <p:spPr>
          <a:xfrm>
            <a:off x="1440" y="2307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Повышающий - понижающий преобразователь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38" name="Google Shape;290;p44" descr=""/>
          <p:cNvPicPr/>
          <p:nvPr/>
        </p:nvPicPr>
        <p:blipFill>
          <a:blip r:embed="rId1"/>
          <a:stretch/>
        </p:blipFill>
        <p:spPr>
          <a:xfrm>
            <a:off x="3330720" y="3551040"/>
            <a:ext cx="5647680" cy="121860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96;p45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457200" indent="4572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Низкопотребляющий LPTIM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41" name="Google Shape;297;p45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03;p46"/>
          <p:cNvSpPr/>
          <p:nvPr/>
        </p:nvSpPr>
        <p:spPr>
          <a:xfrm>
            <a:off x="6005880" y="1332000"/>
            <a:ext cx="6185880" cy="16909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Счетчик импульсов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0" y="1440000"/>
            <a:ext cx="7441560" cy="5417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LPTIM - таймер с низким 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электропотреблением 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45" name="Google Shape;306;p46"/>
          <p:cNvSpPr/>
          <p:nvPr/>
        </p:nvSpPr>
        <p:spPr>
          <a:xfrm>
            <a:off x="6005520" y="3096000"/>
            <a:ext cx="6185880" cy="183780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Источник PWM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46" name="Google Shape;307;p46"/>
          <p:cNvSpPr/>
          <p:nvPr/>
        </p:nvSpPr>
        <p:spPr>
          <a:xfrm>
            <a:off x="6005520" y="5040000"/>
            <a:ext cx="6185880" cy="18050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Источник событий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312;p47"/>
          <p:cNvSpPr/>
          <p:nvPr/>
        </p:nvSpPr>
        <p:spPr>
          <a:xfrm>
            <a:off x="1440" y="1299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LPTIM и режимы энергопотребления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49" name="Google Shape;314;p47" descr=""/>
          <p:cNvPicPr/>
          <p:nvPr/>
        </p:nvPicPr>
        <p:blipFill>
          <a:blip r:embed="rId1"/>
          <a:stretch/>
        </p:blipFill>
        <p:spPr>
          <a:xfrm>
            <a:off x="2262240" y="2295360"/>
            <a:ext cx="7666920" cy="367596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319;p48"/>
          <p:cNvSpPr/>
          <p:nvPr/>
        </p:nvSpPr>
        <p:spPr>
          <a:xfrm>
            <a:off x="1440" y="1587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LPTIM и его распространенность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52" name="Google Shape;321;p48" descr=""/>
          <p:cNvPicPr/>
          <p:nvPr/>
        </p:nvPicPr>
        <p:blipFill>
          <a:blip r:embed="rId1"/>
          <a:stretch/>
        </p:blipFill>
        <p:spPr>
          <a:xfrm>
            <a:off x="2247840" y="2718360"/>
            <a:ext cx="7695360" cy="303768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326;p49"/>
          <p:cNvSpPr/>
          <p:nvPr/>
        </p:nvSpPr>
        <p:spPr>
          <a:xfrm>
            <a:off x="1440" y="1767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LPTIM и источники тактирования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55" name="Google Shape;328;p49" descr=""/>
          <p:cNvPicPr/>
          <p:nvPr/>
        </p:nvPicPr>
        <p:blipFill>
          <a:blip r:embed="rId1"/>
          <a:stretch/>
        </p:blipFill>
        <p:spPr>
          <a:xfrm>
            <a:off x="2397960" y="2961360"/>
            <a:ext cx="7657560" cy="197100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333;p50"/>
          <p:cNvSpPr/>
          <p:nvPr/>
        </p:nvSpPr>
        <p:spPr>
          <a:xfrm>
            <a:off x="1440" y="2415960"/>
            <a:ext cx="869868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Отличия LPTIM и TIMx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58" name="Google Shape;335;p50" descr=""/>
          <p:cNvPicPr/>
          <p:nvPr/>
        </p:nvPicPr>
        <p:blipFill>
          <a:blip r:embed="rId1"/>
          <a:stretch/>
        </p:blipFill>
        <p:spPr>
          <a:xfrm>
            <a:off x="2266920" y="3537360"/>
            <a:ext cx="7657560" cy="86616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340;p51"/>
          <p:cNvSpPr/>
          <p:nvPr/>
        </p:nvSpPr>
        <p:spPr>
          <a:xfrm>
            <a:off x="558000" y="1551960"/>
            <a:ext cx="814212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Практическое использование LPTIM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61" name="Google Shape;342;p51" descr=""/>
          <p:cNvPicPr/>
          <p:nvPr/>
        </p:nvPicPr>
        <p:blipFill>
          <a:blip r:embed="rId1"/>
          <a:stretch/>
        </p:blipFill>
        <p:spPr>
          <a:xfrm>
            <a:off x="2195280" y="2552400"/>
            <a:ext cx="7514640" cy="290448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0" y="1366920"/>
            <a:ext cx="6217920" cy="68328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txBody>
          <a:bodyPr anchor="ctr">
            <a:noAutofit/>
          </a:bodyPr>
          <a:p>
            <a:pPr marL="11700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ДОМАШНЕЕ ЗАДАНИЕ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55000" y="2137680"/>
            <a:ext cx="10629000" cy="412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Если микроконтроллер, имеющейся у вас в наличии платы Nucleo, имеет в составе периферийных устройств HRTIM, то создайте в STM32CubeMX проект под имеющуюся у вас плату Nucleo. Если такого таймера в вашем микроконтроллере нет, используйте микроконтроллер STM32G474CET.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В созданном проекте настройте микроконтроллер на использование внешнего источника тактирования — кварцевый резонатор частотой 25 МГц (HSE).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Необходимо настроить тактирование микроконтроллера и таймер HRTIM таким образом, чтобы получить на любом выбранном вами выходе таймера высокого разрешения PWM сигнал частотой 100 кГц и коэффициентом заполнения 50%.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Целью домашней работы является получение учащимся опыта по конфигурированию таймера высокого разрешения HRTIM, а также по вычислению требуемых параметров тактирования. В качестве результата домашнего задания прислать файл проекта STM32CubeMX (файл с расширением .ioc).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LibreOffice/7.3.0.3$Windows_X86_64 LibreOffice_project/0f246aa12d0eee4a0f7adcefbf7c878fc2238db3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2024-05-27T23:46:57Z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